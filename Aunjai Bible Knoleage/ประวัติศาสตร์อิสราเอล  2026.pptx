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1" r:id="rId2"/>
    <p:sldId id="327" r:id="rId3"/>
    <p:sldId id="343" r:id="rId4"/>
    <p:sldId id="342" r:id="rId5"/>
    <p:sldId id="333" r:id="rId6"/>
    <p:sldId id="334" r:id="rId7"/>
    <p:sldId id="336" r:id="rId8"/>
    <p:sldId id="323" r:id="rId9"/>
    <p:sldId id="324" r:id="rId10"/>
    <p:sldId id="328" r:id="rId11"/>
    <p:sldId id="338" r:id="rId12"/>
    <p:sldId id="337" r:id="rId13"/>
    <p:sldId id="339" r:id="rId14"/>
    <p:sldId id="318" r:id="rId15"/>
    <p:sldId id="350" r:id="rId16"/>
    <p:sldId id="340" r:id="rId17"/>
    <p:sldId id="329" r:id="rId18"/>
    <p:sldId id="344" r:id="rId19"/>
    <p:sldId id="345" r:id="rId20"/>
    <p:sldId id="346" r:id="rId21"/>
    <p:sldId id="351" r:id="rId22"/>
    <p:sldId id="320" r:id="rId23"/>
    <p:sldId id="321" r:id="rId24"/>
    <p:sldId id="322" r:id="rId25"/>
    <p:sldId id="348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3" r:id="rId34"/>
    <p:sldId id="360" r:id="rId35"/>
    <p:sldId id="361" r:id="rId36"/>
    <p:sldId id="362" r:id="rId37"/>
    <p:sldId id="330" r:id="rId38"/>
    <p:sldId id="331" r:id="rId39"/>
    <p:sldId id="332" r:id="rId40"/>
    <p:sldId id="352" r:id="rId41"/>
    <p:sldId id="349" r:id="rId42"/>
  </p:sldIdLst>
  <p:sldSz cx="9144000" cy="6858000" type="screen4x3"/>
  <p:notesSz cx="9945688" cy="6858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4218-89C2-4569-9F9F-770579217CF2}" type="datetimeFigureOut">
              <a:rPr lang="th-TH" smtClean="0"/>
              <a:t>24/04/69</a:t>
            </a:fld>
            <a:endParaRPr lang="th-TH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57DD6A-F293-45B6-8A63-C8975D837508}" type="slidenum">
              <a:rPr lang="th-TH" smtClean="0"/>
              <a:t>‹#›</a:t>
            </a:fld>
            <a:endParaRPr lang="th-TH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BD4218-89C2-4569-9F9F-770579217CF2}" type="datetimeFigureOut">
              <a:rPr lang="th-TH" smtClean="0"/>
              <a:t>24/04/69</a:t>
            </a:fld>
            <a:endParaRPr lang="th-TH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4A57DD6A-F293-45B6-8A63-C8975D837508}" type="slidenum">
              <a:rPr lang="th-TH" smtClean="0"/>
              <a:t>‹#›</a:t>
            </a:fld>
            <a:endParaRPr lang="th-TH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4218-89C2-4569-9F9F-770579217CF2}" type="datetimeFigureOut">
              <a:rPr lang="th-TH" smtClean="0"/>
              <a:t>24/04/69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DD6A-F293-45B6-8A63-C8975D837508}" type="slidenum">
              <a:rPr lang="th-TH" smtClean="0"/>
              <a:t>‹#›</a:t>
            </a:fld>
            <a:endParaRPr lang="th-T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4218-89C2-4569-9F9F-770579217CF2}" type="datetimeFigureOut">
              <a:rPr lang="th-TH" smtClean="0"/>
              <a:t>24/04/69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DD6A-F293-45B6-8A63-C8975D837508}" type="slidenum">
              <a:rPr lang="th-TH" smtClean="0"/>
              <a:t>‹#›</a:t>
            </a:fld>
            <a:endParaRPr lang="th-T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DD6A-F293-45B6-8A63-C8975D837508}" type="slidenum">
              <a:rPr lang="th-TH" smtClean="0"/>
              <a:t>‹#›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4218-89C2-4569-9F9F-770579217CF2}" type="datetimeFigureOut">
              <a:rPr lang="th-TH" smtClean="0"/>
              <a:t>24/04/69</a:t>
            </a:fld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4218-89C2-4569-9F9F-770579217CF2}" type="datetimeFigureOut">
              <a:rPr lang="th-TH" smtClean="0"/>
              <a:t>24/04/69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DD6A-F293-45B6-8A63-C8975D837508}" type="slidenum">
              <a:rPr lang="th-TH" smtClean="0"/>
              <a:t>‹#›</a:t>
            </a:fld>
            <a:endParaRPr lang="th-T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4218-89C2-4569-9F9F-770579217CF2}" type="datetimeFigureOut">
              <a:rPr lang="th-TH" smtClean="0"/>
              <a:t>24/04/69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DD6A-F293-45B6-8A63-C8975D837508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BD4218-89C2-4569-9F9F-770579217CF2}" type="datetimeFigureOut">
              <a:rPr lang="th-TH" smtClean="0"/>
              <a:t>24/04/69</a:t>
            </a:fld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A57DD6A-F293-45B6-8A63-C8975D837508}" type="slidenum">
              <a:rPr lang="th-TH" smtClean="0"/>
              <a:t>‹#›</a:t>
            </a:fld>
            <a:endParaRPr lang="th-TH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4218-89C2-4569-9F9F-770579217CF2}" type="datetimeFigureOut">
              <a:rPr lang="th-TH" smtClean="0"/>
              <a:t>24/04/69</a:t>
            </a:fld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57DD6A-F293-45B6-8A63-C8975D837508}" type="slidenum">
              <a:rPr lang="th-TH" smtClean="0"/>
              <a:t>‹#›</a:t>
            </a:fld>
            <a:endParaRPr lang="th-TH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4218-89C2-4569-9F9F-770579217CF2}" type="datetimeFigureOut">
              <a:rPr lang="th-TH" smtClean="0"/>
              <a:t>24/04/69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DD6A-F293-45B6-8A63-C8975D837508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4218-89C2-4569-9F9F-770579217CF2}" type="datetimeFigureOut">
              <a:rPr lang="th-TH" smtClean="0"/>
              <a:t>24/04/69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DD6A-F293-45B6-8A63-C8975D837508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7BD4218-89C2-4569-9F9F-770579217CF2}" type="datetimeFigureOut">
              <a:rPr lang="th-TH" smtClean="0"/>
              <a:t>24/04/69</a:t>
            </a:fld>
            <a:endParaRPr lang="th-TH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h-TH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4A57DD6A-F293-45B6-8A63-C8975D837508}" type="slidenum">
              <a:rPr lang="th-TH" smtClean="0"/>
              <a:t>‹#›</a:t>
            </a:fld>
            <a:endParaRPr lang="th-TH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eb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%E0%B9%80%E0%B8%AD%E0%B8%AA%E0%B9%80%E0%B8%98%E0%B8%AD%E0%B8%A3%E0%B9%8C&amp;oq=%E0%B8%AB%E0%B8%99%E0%B8%B1%E0%B8%87%E0%B8%AA%E0%B8%B7%E0%B8%AD%E0%B8%9B%E0%B8%A3%E0%B8%B0%E0%B8%A7%E0%B8%B1%E0%B8%95%E0%B8%B4%E0%B8%A8%E0%B8%B2%E0%B8%AA%E0%B8%95%E0%B8%A3%E0%B9%8C+%E0%B9%83%E0%B8%99%E0%B8%9E%E0%B8%A3%E0%B8%B0%E0%B8%84%E0%B8%B1%E0%B8%A1%E0%B8%A0%E0%B8%B5%E0%B8%A3%E0%B9%8C&amp;gs_lcrp=EgZjaHJvbWUyBggAEEUYOTIHCAEQIRifBTIHCAIQIRifBTIHCAMQIRifBTIHCAQQIRiPAjIHCAUQIRiPAtIBCjI0MzgxajBqMTWoAgiwAgHxBc-N3Tv6uK1c8QXPjd07-ritXA&amp;sourceid=chrome&amp;ie=UTF-8&amp;mstk=AUtExfAnJwlPQlPWt7UBPoEjzgs5uUSau7WeQosPl0SXkv3_9k0DSnzNFvfGgzYRTo09AwHsBkw8XLRUziP8tlwa9Hnazy7c2J7kap6_409liz1kRSGScI6ufrT-o-FIUJJhI5huQ6y7m5OJBw7MDHUVQY2CuzViOATtLJNlEy_EVtcl5VE&amp;csui=3&amp;ved=2ahUKEwjK0obHud2TAxV4m68BHX9kEbgQgK4QegQIAxAP" TargetMode="External"/><Relationship Id="rId3" Type="http://schemas.openxmlformats.org/officeDocument/2006/relationships/hyperlink" Target="https://www.google.com/search?q=%E0%B8%99%E0%B8%B2%E0%B8%87%E0%B8%A3%E0%B8%B9%E0%B8%98&amp;oq=%E0%B8%AB%E0%B8%99%E0%B8%B1%E0%B8%87%E0%B8%AA%E0%B8%B7%E0%B8%AD%E0%B8%9B%E0%B8%A3%E0%B8%B0%E0%B8%A7%E0%B8%B1%E0%B8%95%E0%B8%B4%E0%B8%A8%E0%B8%B2%E0%B8%AA%E0%B8%95%E0%B8%A3%E0%B9%8C+%E0%B9%83%E0%B8%99%E0%B8%9E%E0%B8%A3%E0%B8%B0%E0%B8%84%E0%B8%B1%E0%B8%A1%E0%B8%A0%E0%B8%B5%E0%B8%A3%E0%B9%8C&amp;gs_lcrp=EgZjaHJvbWUyBggAEEUYOTIHCAEQIRifBTIHCAIQIRifBTIHCAMQIRifBTIHCAQQIRiPAjIHCAUQIRiPAtIBCjI0MzgxajBqMTWoAgiwAgHxBc-N3Tv6uK1c8QXPjd07-ritXA&amp;sourceid=chrome&amp;ie=UTF-8&amp;mstk=AUtExfAnJwlPQlPWt7UBPoEjzgs5uUSau7WeQosPl0SXkv3_9k0DSnzNFvfGgzYRTo09AwHsBkw8XLRUziP8tlwa9Hnazy7c2J7kap6_409liz1kRSGScI6ufrT-o-FIUJJhI5huQ6y7m5OJBw7MDHUVQY2CuzViOATtLJNlEy_EVtcl5VE&amp;csui=3&amp;ved=2ahUKEwjK0obHud2TAxV4m68BHX9kEbgQgK4QegQIAxAF" TargetMode="External"/><Relationship Id="rId7" Type="http://schemas.openxmlformats.org/officeDocument/2006/relationships/hyperlink" Target="https://www.google.com/search?q=%E0%B9%80%E0%B8%AD%E0%B8%AA%E0%B8%A3%E0%B8%B2-%E0%B9%80%E0%B8%99%E0%B8%AB%E0%B8%B0%E0%B8%A1%E0%B8%B5%E0%B8%A2%E0%B9%8C&amp;oq=%E0%B8%AB%E0%B8%99%E0%B8%B1%E0%B8%87%E0%B8%AA%E0%B8%B7%E0%B8%AD%E0%B8%9B%E0%B8%A3%E0%B8%B0%E0%B8%A7%E0%B8%B1%E0%B8%95%E0%B8%B4%E0%B8%A8%E0%B8%B2%E0%B8%AA%E0%B8%95%E0%B8%A3%E0%B9%8C+%E0%B9%83%E0%B8%99%E0%B8%9E%E0%B8%A3%E0%B8%B0%E0%B8%84%E0%B8%B1%E0%B8%A1%E0%B8%A0%E0%B8%B5%E0%B8%A3%E0%B9%8C&amp;gs_lcrp=EgZjaHJvbWUyBggAEEUYOTIHCAEQIRifBTIHCAIQIRifBTIHCAMQIRifBTIHCAQQIRiPAjIHCAUQIRiPAtIBCjI0MzgxajBqMTWoAgiwAgHxBc-N3Tv6uK1c8QXPjd07-ritXA&amp;sourceid=chrome&amp;ie=UTF-8&amp;mstk=AUtExfAnJwlPQlPWt7UBPoEjzgs5uUSau7WeQosPl0SXkv3_9k0DSnzNFvfGgzYRTo09AwHsBkw8XLRUziP8tlwa9Hnazy7c2J7kap6_409liz1kRSGScI6ufrT-o-FIUJJhI5huQ6y7m5OJBw7MDHUVQY2CuzViOATtLJNlEy_EVtcl5VE&amp;csui=3&amp;ved=2ahUKEwjK0obHud2TAxV4m68BHX9kEbgQgK4QegQIAxAN" TargetMode="External"/><Relationship Id="rId2" Type="http://schemas.openxmlformats.org/officeDocument/2006/relationships/hyperlink" Target="https://www.google.com/search?q=%E0%B8%9C%E0%B8%B9%E0%B9%89%E0%B8%A7%E0%B8%B4%E0%B8%99%E0%B8%B4%E0%B8%88%E0%B8%89%E0%B8%B1%E0%B8%A2&amp;oq=%E0%B8%AB%E0%B8%99%E0%B8%B1%E0%B8%87%E0%B8%AA%E0%B8%B7%E0%B8%AD%E0%B8%9B%E0%B8%A3%E0%B8%B0%E0%B8%A7%E0%B8%B1%E0%B8%95%E0%B8%B4%E0%B8%A8%E0%B8%B2%E0%B8%AA%E0%B8%95%E0%B8%A3%E0%B9%8C+%E0%B9%83%E0%B8%99%E0%B8%9E%E0%B8%A3%E0%B8%B0%E0%B8%84%E0%B8%B1%E0%B8%A1%E0%B8%A0%E0%B8%B5%E0%B8%A3%E0%B9%8C&amp;gs_lcrp=EgZjaHJvbWUyBggAEEUYOTIHCAEQIRifBTIHCAIQIRifBTIHCAMQIRifBTIHCAQQIRiPAjIHCAUQIRiPAtIBCjI0MzgxajBqMTWoAgiwAgHxBc-N3Tv6uK1c8QXPjd07-ritXA&amp;sourceid=chrome&amp;ie=UTF-8&amp;mstk=AUtExfAnJwlPQlPWt7UBPoEjzgs5uUSau7WeQosPl0SXkv3_9k0DSnzNFvfGgzYRTo09AwHsBkw8XLRUziP8tlwa9Hnazy7c2J7kap6_409liz1kRSGScI6ufrT-o-FIUJJhI5huQ6y7m5OJBw7MDHUVQY2CuzViOATtLJNlEy_EVtcl5VE&amp;csui=3&amp;ved=2ahUKEwjK0obHud2TAxV4m68BHX9kEbgQgK4QegQIAxA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1-2+%E0%B8%9E%E0%B8%87%E0%B8%A8%E0%B8%B2%E0%B8%A7%E0%B8%94%E0%B8%B2%E0%B8%A3&amp;oq=%E0%B8%AB%E0%B8%99%E0%B8%B1%E0%B8%87%E0%B8%AA%E0%B8%B7%E0%B8%AD%E0%B8%9B%E0%B8%A3%E0%B8%B0%E0%B8%A7%E0%B8%B1%E0%B8%95%E0%B8%B4%E0%B8%A8%E0%B8%B2%E0%B8%AA%E0%B8%95%E0%B8%A3%E0%B9%8C+%E0%B9%83%E0%B8%99%E0%B8%9E%E0%B8%A3%E0%B8%B0%E0%B8%84%E0%B8%B1%E0%B8%A1%E0%B8%A0%E0%B8%B5%E0%B8%A3%E0%B9%8C&amp;gs_lcrp=EgZjaHJvbWUyBggAEEUYOTIHCAEQIRifBTIHCAIQIRifBTIHCAMQIRifBTIHCAQQIRiPAjIHCAUQIRiPAtIBCjI0MzgxajBqMTWoAgiwAgHxBc-N3Tv6uK1c8QXPjd07-ritXA&amp;sourceid=chrome&amp;ie=UTF-8&amp;mstk=AUtExfAnJwlPQlPWt7UBPoEjzgs5uUSau7WeQosPl0SXkv3_9k0DSnzNFvfGgzYRTo09AwHsBkw8XLRUziP8tlwa9Hnazy7c2J7kap6_409liz1kRSGScI6ufrT-o-FIUJJhI5huQ6y7m5OJBw7MDHUVQY2CuzViOATtLJNlEy_EVtcl5VE&amp;csui=3&amp;ved=2ahUKEwjK0obHud2TAxV4m68BHX9kEbgQgK4QegQIAxAL" TargetMode="External"/><Relationship Id="rId5" Type="http://schemas.openxmlformats.org/officeDocument/2006/relationships/hyperlink" Target="https://www.google.com/search?q=1-2+%E0%B8%9E%E0%B8%87%E0%B8%A8%E0%B9%8C%E0%B8%81%E0%B8%A9%E0%B8%B1%E0%B8%95%E0%B8%A3%E0%B8%B4%E0%B8%A2%E0%B9%8C&amp;oq=%E0%B8%AB%E0%B8%99%E0%B8%B1%E0%B8%87%E0%B8%AA%E0%B8%B7%E0%B8%AD%E0%B8%9B%E0%B8%A3%E0%B8%B0%E0%B8%A7%E0%B8%B1%E0%B8%95%E0%B8%B4%E0%B8%A8%E0%B8%B2%E0%B8%AA%E0%B8%95%E0%B8%A3%E0%B9%8C+%E0%B9%83%E0%B8%99%E0%B8%9E%E0%B8%A3%E0%B8%B0%E0%B8%84%E0%B8%B1%E0%B8%A1%E0%B8%A0%E0%B8%B5%E0%B8%A3%E0%B9%8C&amp;gs_lcrp=EgZjaHJvbWUyBggAEEUYOTIHCAEQIRifBTIHCAIQIRifBTIHCAMQIRifBTIHCAQQIRiPAjIHCAUQIRiPAtIBCjI0MzgxajBqMTWoAgiwAgHxBc-N3Tv6uK1c8QXPjd07-ritXA&amp;sourceid=chrome&amp;ie=UTF-8&amp;mstk=AUtExfAnJwlPQlPWt7UBPoEjzgs5uUSau7WeQosPl0SXkv3_9k0DSnzNFvfGgzYRTo09AwHsBkw8XLRUziP8tlwa9Hnazy7c2J7kap6_409liz1kRSGScI6ufrT-o-FIUJJhI5huQ6y7m5OJBw7MDHUVQY2CuzViOATtLJNlEy_EVtcl5VE&amp;csui=3&amp;ved=2ahUKEwjK0obHud2TAxV4m68BHX9kEbgQgK4QegQIAxAJ" TargetMode="External"/><Relationship Id="rId4" Type="http://schemas.openxmlformats.org/officeDocument/2006/relationships/hyperlink" Target="https://www.google.com/search?q=1-2+%E0%B8%8B%E0%B8%B2%E0%B8%A1%E0%B8%B9%E0%B9%80%E0%B8%AD%E0%B8%A5&amp;oq=%E0%B8%AB%E0%B8%99%E0%B8%B1%E0%B8%87%E0%B8%AA%E0%B8%B7%E0%B8%AD%E0%B8%9B%E0%B8%A3%E0%B8%B0%E0%B8%A7%E0%B8%B1%E0%B8%95%E0%B8%B4%E0%B8%A8%E0%B8%B2%E0%B8%AA%E0%B8%95%E0%B8%A3%E0%B9%8C+%E0%B9%83%E0%B8%99%E0%B8%9E%E0%B8%A3%E0%B8%B0%E0%B8%84%E0%B8%B1%E0%B8%A1%E0%B8%A0%E0%B8%B5%E0%B8%A3%E0%B9%8C&amp;gs_lcrp=EgZjaHJvbWUyBggAEEUYOTIHCAEQIRifBTIHCAIQIRifBTIHCAMQIRifBTIHCAQQIRiPAjIHCAUQIRiPAtIBCjI0MzgxajBqMTWoAgiwAgHxBc-N3Tv6uK1c8QXPjd07-ritXA&amp;sourceid=chrome&amp;ie=UTF-8&amp;mstk=AUtExfAnJwlPQlPWt7UBPoEjzgs5uUSau7WeQosPl0SXkv3_9k0DSnzNFvfGgzYRTo09AwHsBkw8XLRUziP8tlwa9Hnazy7c2J7kap6_409liz1kRSGScI6ufrT-o-FIUJJhI5huQ6y7m5OJBw7MDHUVQY2CuzViOATtLJNlEy_EVtcl5VE&amp;csui=3&amp;ved=2ahUKEwjK0obHud2TAxV4m68BHX9kEbgQgK4QegQIAxAH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%E0%B8%81%E0%B8%B2%E0%B8%A3%E0%B9%80%E0%B8%82%E0%B9%89%E0%B8%B2%E0%B8%AA%E0%B8%B8%E0%B8%99%E0%B8%B1%E0%B8%95&amp;oq=%E0%B8%9E%E0%B8%B1%E0%B8%99%E0%B8%98%E0%B8%AA%E0%B8%B1%E0%B8%8D%E0%B8%8D%E0%B8%B2%E0%B8%82%E0%B8%AD%E0%B8%87%E0%B8%9E%E0%B8%A3%E0%B8%B0%E0%B9%80%E0%B8%88%E0%B9%89%E0%B8%B2%E0%B8%81%E0%B8%B1%E0%B8%9A%E0%B8%AD%E0%B8%B1%E0%B8%9A%E0%B8%A3%E0%B8%B2%E0%B8%AE%E0%B8%B1%E0%B8%A1&amp;gs_lcrp=EgZjaHJvbWUyBggAEEUYOTIHCAEQABjvBTIHCAIQABjvBTIHCAMQABjvBTIHCAQQABjvBdIBCjI5MDQ0ajBqMTWoAgywAgHxBdcra1bfAKgX8QXXK2tW3wCoFw&amp;sourceid=chrome&amp;ie=UTF-8&amp;mstk=AUtExfC2IKZKiRy0iB78v7rh-cJjg7BfSg5aFChQYCvaUfS2wxZrllL8L7_L3Y2QtkG--bl_--bQwYjRNlyYhqSQaCGA3I2zvWKwzY-Q79VoMEW230ENPInFmhmw2urBaMVn42TwwwgDIRi-QTm0qwAvsQeR-tMSYpM042VF8o1Ul1d-uFFTtyzUjn8rAmixrchvFEenHHJY3Xp1iXz8_jV1gN2onlw5x95fihbq1OK29WnHogLslqzMQfnTlud4V_1M1hDIq9GyMU7m3E7aWrHiAPjz6ueKlttT07H8_IBXQI3L7g&amp;csui=3&amp;ved=2ahUKEwjS_fDirYWUAxUSlFYBHZmeB5kQgK4QegQIAxAE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%E0%B8%AD%E0%B8%B4%E0%B8%8A%E0%B8%A1%E0%B8%B2%E0%B9%80%E0%B8%AD%E0%B8%A5+%28Ishmael%29&amp;sca_esv=e42243e293ad428e&amp;sxsrf=ANbL-n61HdpQiowpzk49hSLvuezCbi5JfA%3A1776994875933&amp;ei=O8rqaYvWOPmN2roP8Oq10QY&amp;ved=2ahUKEwi458uvsIWUAxWm0TQHHbawDFUQgK4QegYIAQgCEAE&amp;uact=5&amp;oq=%E0%B8%A5%E0%B8%B9%E0%B8%81%E0%B8%82%E0%B8%AD%E0%B8%87%E0%B8%AD%E0%B8%B1%E0%B8%9A%E0%B8%A3%E0%B8%B2%E0%B8%AE%E0%B8%B2%E0%B8%A1&amp;gs_lp=Egxnd3Mtd2l6LXNlcnAiKuC4peC4ueC4geC4guC4reC4h-C4reC4seC4muC4o-C4suC4ruC4suC4oTIJEAAYgAQYExgNMgUQABjvBTIFEAAY7wUyBRAAGO8FSO5yUNkUWJFpcAJ4AJABA5gBc6AByh-qAQQzNS45uAEDyAEA-AEBmAIQoAKRC6gCEMICCBAAGLADGO8FwgIHECMYJxjqAsICDRAjGPAFGCcYyQIY6gLCAg0QLhjRAxjHARgnGOoCwgINEC4YxwEYJxjqAhivAcICFxAAGIAEGJECGLQCGOcGGIoFGOoC2AEBwgIEECMYJ8ICChAjGPAFGCcYyQLCAg4QABiABBixAxiDARiKBcICBBAAGAPCAggQLhiABBixA8ICBRAAGIAEwgIIEAAYgAQYsQPCAgUQLhiABMICCxAuGIAEGLEDGIMBwgINEC4YgAQYsQMYQxiKBcICChAAGIAEGEMYigXCAgcQABiABBgTwgIIEAAYgAQYogTCAgcQABiABBgNmAMJ8QVJvAHllTJ2Z4gGAZAGBboGBggBEAEYAZIHAzkuN6AHnOkCsgcDNy43uAf-CsIHCDAuMTAuNS4xyAc8gAgA&amp;sclient=gws-wiz-serp" TargetMode="External"/><Relationship Id="rId2" Type="http://schemas.openxmlformats.org/officeDocument/2006/relationships/hyperlink" Target="https://www.google.com/search?q=%E0%B8%AD%E0%B8%B4%E0%B8%AA%E0%B8%AD%E0%B8%B1%E0%B8%84+%28Isaac%29&amp;sca_esv=e42243e293ad428e&amp;sxsrf=ANbL-n61HdpQiowpzk49hSLvuezCbi5JfA%3A1776994875933&amp;ei=O8rqaYvWOPmN2roP8Oq10QY&amp;ved=2ahUKEwi458uvsIWUAxWm0TQHHbawDFUQgK4QegYIAQgAEAo&amp;uact=5&amp;oq=%E0%B8%A5%E0%B8%B9%E0%B8%81%E0%B8%82%E0%B8%AD%E0%B8%87%E0%B8%AD%E0%B8%B1%E0%B8%9A%E0%B8%A3%E0%B8%B2%E0%B8%AE%E0%B8%B2%E0%B8%A1&amp;gs_lp=Egxnd3Mtd2l6LXNlcnAiKuC4peC4ueC4geC4guC4reC4h-C4reC4seC4muC4o-C4suC4ruC4suC4oTIJEAAYgAQYExgNMgUQABjvBTIFEAAY7wUyBRAAGO8FSO5yUNkUWJFpcAJ4AJABA5gBc6AByh-qAQQzNS45uAEDyAEA-AEBmAIQoAKRC6gCEMICCBAAGLADGO8FwgIHECMYJxjqAsICDRAjGPAFGCcYyQIY6gLCAg0QLhjRAxjHARgnGOoCwgINEC4YxwEYJxjqAhivAcICFxAAGIAEGJECGLQCGOcGGIoFGOoC2AEBwgIEECMYJ8ICChAjGPAFGCcYyQLCAg4QABiABBixAxiDARiKBcICBBAAGAPCAggQLhiABBixA8ICBRAAGIAEwgIIEAAYgAQYsQPCAgUQLhiABMICCxAuGIAEGLEDGIMBwgINEC4YgAQYsQMYQxiKBcICChAAGIAEGEMYigXCAgcQABiABBgTwgIIEAAYgAQYogTCAgcQABiABBgNmAMJ8QVJvAHllTJ2Z4gGAZAGBboGBggBEAEYAZIHAzkuN6AHnOkCsgcDNy43uAf-CsIHCDAuMTAuNS4xyAc8gAgA&amp;sclient=gws-wiz-ser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q=%E0%B8%8B%E0%B8%B4%E0%B8%A1%E0%B8%A3%E0%B8%B2%E0%B8%99%2C+%E0%B9%82%E0%B8%A2%E0%B8%84%E0%B8%8A%E0%B8%B1%E0%B8%99%2C+%E0%B9%80%E0%B8%A1%E0%B8%94%E0%B8%B1%E0%B8%99%2C+%E0%B8%A1%E0%B8%B5%E0%B9%80%E0%B8%94%E0%B8%B5%E0%B8%A2%E0%B8%99%2C+%E0%B8%AD%E0%B8%B4%E0%B8%8A%E0%B8%9A%E0%B8%B1%E0%B8%81%2C+%E0%B8%8A%E0%B8%B9%E0%B8%AD%E0%B8%B2%E0%B8%AB%E0%B9%8C&amp;sca_esv=e42243e293ad428e&amp;sxsrf=ANbL-n61HdpQiowpzk49hSLvuezCbi5JfA%3A1776994875933&amp;ei=O8rqaYvWOPmN2roP8Oq10QY&amp;ved=2ahUKEwi458uvsIWUAxWm0TQHHbawDFUQgK4QegYIAQgDEAI&amp;uact=5&amp;oq=%E0%B8%A5%E0%B8%B9%E0%B8%81%E0%B8%82%E0%B8%AD%E0%B8%87%E0%B8%AD%E0%B8%B1%E0%B8%9A%E0%B8%A3%E0%B8%B2%E0%B8%AE%E0%B8%B2%E0%B8%A1&amp;gs_lp=Egxnd3Mtd2l6LXNlcnAiKuC4peC4ueC4geC4guC4reC4h-C4reC4seC4muC4o-C4suC4ruC4suC4oTIJEAAYgAQYExgNMgUQABjvBTIFEAAY7wUyBRAAGO8FSO5yUNkUWJFpcAJ4AJABA5gBc6AByh-qAQQzNS45uAEDyAEA-AEBmAIQoAKRC6gCEMICCBAAGLADGO8FwgIHECMYJxjqAsICDRAjGPAFGCcYyQIY6gLCAg0QLhjRAxjHARgnGOoCwgINEC4YxwEYJxjqAhivAcICFxAAGIAEGJECGLQCGOcGGIoFGOoC2AEBwgIEECMYJ8ICChAjGPAFGCcYyQLCAg4QABiABBixAxiDARiKBcICBBAAGAPCAggQLhiABBixA8ICBRAAGIAEwgIIEAAYgAQYsQPCAgUQLhiABMICCxAuGIAEGLEDGIMBwgINEC4YgAQYsQMYQxiKBcICChAAGIAEGEMYigXCAgcQABiABBgTwgIIEAAYgAQYogTCAgcQABiABBgNmAMJ8QVJvAHllTJ2Z4gGAZAGBboGBggBEAEYAZIHAzkuN6AHnOkCsgcDNy43uAf-CsIHCDAuMTAuNS4xyAc8gAgA&amp;sclient=gws-wiz-serp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%E0%B8%81%E0%B8%B2%E0%B8%94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c" TargetMode="External"/><Relationship Id="rId13" Type="http://schemas.openxmlformats.org/officeDocument/2006/relationships/hyperlink" Target="https://www.google.com/search?q=%E0%B9%80%E0%B8%9A%E0%B8%99%E0%B8%88%E0%B8%B2%E0%B8%A1%E0%B8%B4%E0%B8%99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BE" TargetMode="External"/><Relationship Id="rId3" Type="http://schemas.openxmlformats.org/officeDocument/2006/relationships/hyperlink" Target="https://www.google.com/search?q=%E0%B8%AA%E0%B8%B4%E0%B9%80%E0%B8%A1%E0%B9%82%E0%B8%AD%E0%B8%99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AEA4" TargetMode="External"/><Relationship Id="rId7" Type="http://schemas.openxmlformats.org/officeDocument/2006/relationships/hyperlink" Target="https://www.google.com/search?q=%E0%B8%99%E0%B8%B1%E0%B8%9F%E0%B8%97%E0%B8%B2%E0%B8%A5%E0%B8%B5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U" TargetMode="External"/><Relationship Id="rId12" Type="http://schemas.openxmlformats.org/officeDocument/2006/relationships/hyperlink" Target="https://www.google.com/search?q=%E0%B9%82%E0%B8%A2%E0%B9%80%E0%B8%8B%E0%B8%9F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8" TargetMode="External"/><Relationship Id="rId2" Type="http://schemas.openxmlformats.org/officeDocument/2006/relationships/hyperlink" Target="https://www.google.com/search?q=%E0%B8%A3%E0%B8%B9%E0%B9%80%E0%B8%9A%E0%B8%99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AEA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%E0%B8%94%E0%B8%B2%E0%B8%99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M" TargetMode="External"/><Relationship Id="rId11" Type="http://schemas.openxmlformats.org/officeDocument/2006/relationships/hyperlink" Target="https://www.google.com/search?q=%E0%B9%80%E0%B8%8B%E0%B8%9A%E0%B8%B9%E0%B8%A5%E0%B8%B8%E0%B8%99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0" TargetMode="External"/><Relationship Id="rId5" Type="http://schemas.openxmlformats.org/officeDocument/2006/relationships/hyperlink" Target="https://www.google.com/search?q=%E0%B8%A2%E0%B8%B9%E0%B8%94%E0%B8%B2%E0%B8%AB%E0%B9%8C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E" TargetMode="External"/><Relationship Id="rId10" Type="http://schemas.openxmlformats.org/officeDocument/2006/relationships/hyperlink" Target="https://www.google.com/search?q=%E0%B8%AD%E0%B8%B4%E0%B8%AA%E0%B8%AA%E0%B8%B2%E0%B8%84%E0%B8%B2%E0%B8%A3%E0%B9%8C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s" TargetMode="External"/><Relationship Id="rId4" Type="http://schemas.openxmlformats.org/officeDocument/2006/relationships/hyperlink" Target="https://www.google.com/search?q=%E0%B9%80%E0%B8%A5%E0%B8%A7%E0%B8%B5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AEBA" TargetMode="External"/><Relationship Id="rId9" Type="http://schemas.openxmlformats.org/officeDocument/2006/relationships/hyperlink" Target="https://www.google.com/search?q=%E0%B8%AD%E0%B8%B2%E0%B9%80%E0%B8%8A%E0%B8%AD%E0%B8%A3%E0%B9%8C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k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%E0%B8%81%E0%B8%B2%E0%B8%94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c" TargetMode="External"/><Relationship Id="rId13" Type="http://schemas.openxmlformats.org/officeDocument/2006/relationships/hyperlink" Target="https://www.google.com/search?q=%E0%B9%80%E0%B8%9A%E0%B8%99%E0%B8%88%E0%B8%B2%E0%B8%A1%E0%B8%B4%E0%B8%99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BE" TargetMode="External"/><Relationship Id="rId3" Type="http://schemas.openxmlformats.org/officeDocument/2006/relationships/hyperlink" Target="https://www.google.com/search?q=%E0%B8%AA%E0%B8%B4%E0%B9%80%E0%B8%A1%E0%B9%82%E0%B8%AD%E0%B8%99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AEA4" TargetMode="External"/><Relationship Id="rId7" Type="http://schemas.openxmlformats.org/officeDocument/2006/relationships/hyperlink" Target="https://www.google.com/search?q=%E0%B8%99%E0%B8%B1%E0%B8%9F%E0%B8%97%E0%B8%B2%E0%B8%A5%E0%B8%B5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U" TargetMode="External"/><Relationship Id="rId12" Type="http://schemas.openxmlformats.org/officeDocument/2006/relationships/hyperlink" Target="https://www.google.com/search?q=%E0%B9%82%E0%B8%A2%E0%B9%80%E0%B8%8B%E0%B8%9F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8" TargetMode="External"/><Relationship Id="rId2" Type="http://schemas.openxmlformats.org/officeDocument/2006/relationships/hyperlink" Target="https://www.google.com/search?q=%E0%B8%A3%E0%B8%B9%E0%B9%80%E0%B8%9A%E0%B8%99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AEA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%E0%B8%94%E0%B8%B2%E0%B8%99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M" TargetMode="External"/><Relationship Id="rId11" Type="http://schemas.openxmlformats.org/officeDocument/2006/relationships/hyperlink" Target="https://www.google.com/search?q=%E0%B9%80%E0%B8%8B%E0%B8%9A%E0%B8%B9%E0%B8%A5%E0%B8%B8%E0%B8%99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0" TargetMode="External"/><Relationship Id="rId5" Type="http://schemas.openxmlformats.org/officeDocument/2006/relationships/hyperlink" Target="https://www.google.com/search?q=%E0%B8%A2%E0%B8%B9%E0%B8%94%E0%B8%B2%E0%B8%AB%E0%B9%8C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E" TargetMode="External"/><Relationship Id="rId10" Type="http://schemas.openxmlformats.org/officeDocument/2006/relationships/hyperlink" Target="https://www.google.com/search?q=%E0%B8%AD%E0%B8%B4%E0%B8%AA%E0%B8%AA%E0%B8%B2%E0%B8%84%E0%B8%B2%E0%B8%A3%E0%B9%8C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s" TargetMode="External"/><Relationship Id="rId4" Type="http://schemas.openxmlformats.org/officeDocument/2006/relationships/hyperlink" Target="https://www.google.com/search?q=%E0%B9%80%E0%B8%A5%E0%B8%A7%E0%B8%B5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AEBA" TargetMode="External"/><Relationship Id="rId9" Type="http://schemas.openxmlformats.org/officeDocument/2006/relationships/hyperlink" Target="https://www.google.com/search?q=%E0%B8%AD%E0%B8%B2%E0%B9%80%E0%B8%8A%E0%B8%AD%E0%B8%A3%E0%B9%8C&amp;oq=%E0%B8%AD%E0%B8%B4%E0%B8%AA%E0%B8%A3%E0%B8%B2%E0%B9%80%E0%B8%AD%E0%B8%A5+12+%E0%B9%80%E0%B8%9C%E0%B9%88%E0%B8%B2&amp;gs_lcrp=EgZjaHJvbWUyBggAEEUYOTIJCAEQABgTGIAEMgoIAhAAGBMYFhgeMg0IAxAAGBMYFhgeGMcDMgcIBBAAGO8FMgcIBRAAGO8FMgcIBhAAGO8FMgcIBxAAGO8FMgcICBAAGO8F0gEKMTA5NjVqMGoxNagCCLACAfEFmFZzo0XcPXk&amp;sourceid=chrome&amp;ie=UTF-8&amp;ved=2ahUKEwirz5XMwIWUAxVxcGwGHYW4GYkQgK4QegYIAQgCEAk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ebp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FE9872-BD5C-A545-5514-7B75E3A78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56" y="404192"/>
            <a:ext cx="8803332" cy="6121152"/>
          </a:xfrm>
        </p:spPr>
      </p:pic>
    </p:spTree>
    <p:extLst>
      <p:ext uri="{BB962C8B-B14F-4D97-AF65-F5344CB8AC3E}">
        <p14:creationId xmlns:p14="http://schemas.microsoft.com/office/powerpoint/2010/main" val="59655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FF46F5-59F1-2661-961B-C10C1E64B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6000" dirty="0"/>
              <a:t>พระคัมภีร์ไม่ใช่ตำราประวัติศาสตร์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114902-72EF-9DCB-26E5-C5128FC7A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5400" dirty="0"/>
              <a:t>ประวัติศาสตร์ในพระคัมภีร์เดิม</a:t>
            </a:r>
          </a:p>
        </p:txBody>
      </p:sp>
    </p:spTree>
    <p:extLst>
      <p:ext uri="{BB962C8B-B14F-4D97-AF65-F5344CB8AC3E}">
        <p14:creationId xmlns:p14="http://schemas.microsoft.com/office/powerpoint/2010/main" val="409963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904D3-5090-1025-BC90-D07183599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491C09-8637-43E4-5BEB-BE76405B0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sz="4800" dirty="0"/>
              <a:t>  จุดมุ่งหมายหลักของพระคัมภีร์ คือ</a:t>
            </a:r>
          </a:p>
          <a:p>
            <a:pPr marL="0" indent="0">
              <a:buNone/>
            </a:pPr>
            <a:endParaRPr lang="th-TH" sz="6000" dirty="0"/>
          </a:p>
          <a:p>
            <a:pPr marL="0" indent="0" algn="ctr">
              <a:buNone/>
            </a:pPr>
            <a:r>
              <a:rPr lang="en-US" sz="6600" dirty="0"/>
              <a:t>“</a:t>
            </a:r>
            <a:r>
              <a:rPr lang="th-TH" sz="6600" dirty="0"/>
              <a:t>เปิดเผยแผนการของพระเจ้าเรื่องความรอด</a:t>
            </a:r>
            <a:r>
              <a:rPr lang="en-US" sz="6600" dirty="0"/>
              <a:t>”</a:t>
            </a:r>
            <a:endParaRPr lang="th-TH" sz="6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7A6F25-4DC4-43E6-B6DD-30A891902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5400" dirty="0"/>
              <a:t>ประวัติศาสตร์ในพระคัมภีร์เดิม</a:t>
            </a:r>
          </a:p>
        </p:txBody>
      </p:sp>
    </p:spTree>
    <p:extLst>
      <p:ext uri="{BB962C8B-B14F-4D97-AF65-F5344CB8AC3E}">
        <p14:creationId xmlns:p14="http://schemas.microsoft.com/office/powerpoint/2010/main" val="3592818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082B-1C93-1BAA-6678-B09FF9007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F77994-646F-2484-74A4-9F9E88DA6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h-TH" sz="6000" dirty="0"/>
              <a:t>แล้วพระองค์ทรงอธิบายพระคัมภีร์ที่เล็งถึงพระองค์ทุกข้อให้เขาฟัง เริ่มต้นตั้งแต่โมเสสและบรรดาผู้เผยพระวจนะทั้งหมด </a:t>
            </a:r>
          </a:p>
          <a:p>
            <a:pPr marL="0" indent="0">
              <a:buNone/>
            </a:pPr>
            <a:r>
              <a:rPr lang="th-TH" sz="6000" dirty="0"/>
              <a:t>ลูกา 24</a:t>
            </a:r>
            <a:r>
              <a:rPr lang="en-US" sz="6000" dirty="0"/>
              <a:t>:</a:t>
            </a:r>
            <a:r>
              <a:rPr lang="th-TH" sz="6000" dirty="0"/>
              <a:t>27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66A1E2-DF9B-8093-295E-632AA2F4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5400" dirty="0"/>
              <a:t>ประวัติศาสตร์ในพระคัมภีร์เดิม</a:t>
            </a:r>
          </a:p>
        </p:txBody>
      </p:sp>
    </p:spTree>
    <p:extLst>
      <p:ext uri="{BB962C8B-B14F-4D97-AF65-F5344CB8AC3E}">
        <p14:creationId xmlns:p14="http://schemas.microsoft.com/office/powerpoint/2010/main" val="352048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41732-BEF9-F8FB-1C03-B319DC1CD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EC29CF-F733-FF72-E629-D01D28C2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sz="4400" dirty="0"/>
              <a:t>ทำไมเราต้องศึกษาหนังสือประวัติศาสตร์ในพระคัมภีร์เดิม</a:t>
            </a:r>
            <a:endParaRPr lang="th-TH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4CE87644-EC51-9F4E-9C9F-B3EA209AADB5}"/>
              </a:ext>
            </a:extLst>
          </p:cNvPr>
          <p:cNvSpPr txBox="1">
            <a:spLocks/>
          </p:cNvSpPr>
          <p:nvPr/>
        </p:nvSpPr>
        <p:spPr>
          <a:xfrm>
            <a:off x="457200" y="1812032"/>
            <a:ext cx="8229600" cy="2697088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05840" indent="-228600" algn="l" rtl="0" eaLnBrk="1" latinLnBrk="0" hangingPunct="1">
              <a:spcBef>
                <a:spcPts val="300"/>
              </a:spcBef>
              <a:buClr>
                <a:schemeClr val="accent2">
                  <a:shade val="50000"/>
                </a:schemeClr>
              </a:buClr>
              <a:buSzPct val="85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rtl="0" eaLnBrk="1" latinLnBrk="0" hangingPunct="1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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800" indent="-22860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dirty="0"/>
              <a:t>ก่อนที่เราจะรู้ว่า </a:t>
            </a:r>
            <a:r>
              <a:rPr lang="en-US" sz="4000" dirty="0"/>
              <a:t>“</a:t>
            </a:r>
            <a:r>
              <a:rPr lang="th-TH" sz="4000" dirty="0"/>
              <a:t>ทำไม</a:t>
            </a:r>
            <a:r>
              <a:rPr lang="en-US" sz="4000" dirty="0"/>
              <a:t>” </a:t>
            </a:r>
            <a:r>
              <a:rPr lang="th-TH" sz="4000" dirty="0"/>
              <a:t>เรามาดูว่า</a:t>
            </a:r>
          </a:p>
          <a:p>
            <a:endParaRPr lang="th-TH" sz="4000" dirty="0"/>
          </a:p>
          <a:p>
            <a:r>
              <a:rPr lang="th-TH" sz="4000" dirty="0"/>
              <a:t> </a:t>
            </a:r>
            <a:r>
              <a:rPr lang="en-US" sz="4000" dirty="0"/>
              <a:t>“</a:t>
            </a:r>
            <a:r>
              <a:rPr lang="th-TH" sz="4000" dirty="0"/>
              <a:t>อุปสรรค</a:t>
            </a:r>
            <a:r>
              <a:rPr lang="en-US" sz="4000" dirty="0"/>
              <a:t>”</a:t>
            </a:r>
            <a:r>
              <a:rPr lang="th-TH" sz="4000" dirty="0"/>
              <a:t> ในการศึกษาประวัติศาสตร์ในพระคัมภีร์เดิม</a:t>
            </a:r>
          </a:p>
          <a:p>
            <a:pPr marL="0" indent="0">
              <a:buFont typeface="Wingdings 2"/>
              <a:buNone/>
            </a:pPr>
            <a:endParaRPr lang="th-TH" sz="4000" dirty="0"/>
          </a:p>
        </p:txBody>
      </p:sp>
    </p:spTree>
    <p:extLst>
      <p:ext uri="{BB962C8B-B14F-4D97-AF65-F5344CB8AC3E}">
        <p14:creationId xmlns:p14="http://schemas.microsoft.com/office/powerpoint/2010/main" val="83852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BFBEF-EAB5-943E-8626-DAF91F10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F6161F-A2DF-5D07-88EF-C5F5DBA7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7592"/>
            <a:ext cx="8229600" cy="12192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“</a:t>
            </a:r>
            <a:r>
              <a:rPr lang="th-TH" sz="4400" dirty="0"/>
              <a:t>อุปสรรค</a:t>
            </a:r>
            <a:r>
              <a:rPr lang="en-US" sz="4400" dirty="0"/>
              <a:t>”</a:t>
            </a:r>
            <a:r>
              <a:rPr lang="th-TH" sz="4400" dirty="0"/>
              <a:t> ในการศึกษาประวัติศาสตร์ในพระคัมภีร์เดิม</a:t>
            </a:r>
            <a:br>
              <a:rPr lang="th-TH" sz="4400" dirty="0"/>
            </a:br>
            <a:endParaRPr lang="th-TH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0713F490-2F98-D5DF-2207-1D7B5B557FE8}"/>
              </a:ext>
            </a:extLst>
          </p:cNvPr>
          <p:cNvSpPr txBox="1">
            <a:spLocks/>
          </p:cNvSpPr>
          <p:nvPr/>
        </p:nvSpPr>
        <p:spPr>
          <a:xfrm>
            <a:off x="457200" y="1052736"/>
            <a:ext cx="8229600" cy="442528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05840" indent="-228600" algn="l" rtl="0" eaLnBrk="1" latinLnBrk="0" hangingPunct="1">
              <a:spcBef>
                <a:spcPts val="300"/>
              </a:spcBef>
              <a:buClr>
                <a:schemeClr val="accent2">
                  <a:shade val="50000"/>
                </a:schemeClr>
              </a:buClr>
              <a:buSzPct val="85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rtl="0" eaLnBrk="1" latinLnBrk="0" hangingPunct="1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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800" indent="-22860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dirty="0"/>
              <a:t>ความรู้ของเรามีไม่มากพอ เพราะระยะเวลาผ่านมาหลายพันปี สภาพแวดล้อม วัฒนธรรม วิถีชีวิต ชุมชนแถบ เม</a:t>
            </a:r>
            <a:r>
              <a:rPr lang="th-TH" sz="4000" dirty="0" err="1"/>
              <a:t>โส</a:t>
            </a:r>
            <a:r>
              <a:rPr lang="th-TH" sz="4000" dirty="0"/>
              <a:t>โป</a:t>
            </a:r>
            <a:r>
              <a:rPr lang="th-TH" sz="4000" dirty="0" err="1"/>
              <a:t>เต</a:t>
            </a:r>
            <a:r>
              <a:rPr lang="th-TH" sz="4000" dirty="0"/>
              <a:t>เมีย ลุ่มแม่น้ำไทกริส-ยูเฟรติส</a:t>
            </a:r>
          </a:p>
          <a:p>
            <a:r>
              <a:rPr lang="th-TH" sz="4000" dirty="0"/>
              <a:t>เราจะพบคำถามมากมายในเชิงศาสนศาสตร์ และศีลธรรมที่ตอบยาก เช่น สงคราม ความรุนแรง หรือศีลธรรมเช่น ภรรยาหลายคน</a:t>
            </a:r>
          </a:p>
          <a:p>
            <a:r>
              <a:rPr lang="th-TH" sz="4000" dirty="0"/>
              <a:t>ข้อมูลต่างเหล่านี้ ไม่เกี่ยวข้องกับเราเลย เช่นบัญญัติของโมเสสไม่เกี่ยวข้องกับเรา เพราะเราอยู่ภายใต้พันธสัญญาใหม่</a:t>
            </a:r>
          </a:p>
          <a:p>
            <a:endParaRPr lang="th-TH" sz="4000" dirty="0"/>
          </a:p>
          <a:p>
            <a:pPr marL="0" indent="0">
              <a:buNone/>
            </a:pPr>
            <a:endParaRPr lang="th-TH" sz="4000" dirty="0"/>
          </a:p>
          <a:p>
            <a:pPr marL="0" indent="0">
              <a:buFont typeface="Wingdings 2"/>
              <a:buNone/>
            </a:pPr>
            <a:endParaRPr lang="th-TH" sz="4000" dirty="0"/>
          </a:p>
        </p:txBody>
      </p:sp>
    </p:spTree>
    <p:extLst>
      <p:ext uri="{BB962C8B-B14F-4D97-AF65-F5344CB8AC3E}">
        <p14:creationId xmlns:p14="http://schemas.microsoft.com/office/powerpoint/2010/main" val="251297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ED3C1-C2D2-FBA2-5691-BED918DBB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71B190-E5D7-5C9E-41B9-0027F2DE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sz="4400" dirty="0"/>
              <a:t>ทำไมเราต้องศึกษาหนังสือประวัติศาสตร์ในพระคัมภีร์เดิม</a:t>
            </a:r>
            <a:endParaRPr lang="th-TH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AE1CD2A5-C58D-E151-B5E4-3F1650470393}"/>
              </a:ext>
            </a:extLst>
          </p:cNvPr>
          <p:cNvSpPr txBox="1">
            <a:spLocks/>
          </p:cNvSpPr>
          <p:nvPr/>
        </p:nvSpPr>
        <p:spPr>
          <a:xfrm>
            <a:off x="457200" y="1484784"/>
            <a:ext cx="8507288" cy="4824536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05840" indent="-228600" algn="l" rtl="0" eaLnBrk="1" latinLnBrk="0" hangingPunct="1">
              <a:spcBef>
                <a:spcPts val="300"/>
              </a:spcBef>
              <a:buClr>
                <a:schemeClr val="accent2">
                  <a:shade val="50000"/>
                </a:schemeClr>
              </a:buClr>
              <a:buSzPct val="85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rtl="0" eaLnBrk="1" latinLnBrk="0" hangingPunct="1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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800" indent="-22860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dirty="0"/>
              <a:t>หากเราจะเข้าใจปัจจุบัน เราต้องเข้าใจอดีต หากเราจะเข้าใจพันธสัญญาใหม่ เราต้องเข้าใจ พันธสัญญาเดิม ที่มีต่อชนชาติอิสราเอล</a:t>
            </a:r>
          </a:p>
          <a:p>
            <a:r>
              <a:rPr lang="th-TH" sz="4000" dirty="0"/>
              <a:t>หนังสือประวัติศาสตร์ในพระคัมภีร์เดิม เป็น ประวัติศาสตร์จากมุมมองของพระเจ้า ***</a:t>
            </a:r>
          </a:p>
          <a:p>
            <a:r>
              <a:rPr lang="th-TH" sz="4000" dirty="0"/>
              <a:t>พระเยซู และผู้เขียนพระคัมภีร์ใหม่ ถือว่าหนังสือพันธสัญญาเดิมเป็นสิ่งที่ผู้เชื่อจำเป็นต้องรู้จัก</a:t>
            </a:r>
          </a:p>
        </p:txBody>
      </p:sp>
    </p:spTree>
    <p:extLst>
      <p:ext uri="{BB962C8B-B14F-4D97-AF65-F5344CB8AC3E}">
        <p14:creationId xmlns:p14="http://schemas.microsoft.com/office/powerpoint/2010/main" val="355398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EEC1-A0CC-8A60-8464-21675564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BA30AE-3117-D83A-0A3D-EDB56818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2659360"/>
          </a:xfrm>
        </p:spPr>
        <p:txBody>
          <a:bodyPr>
            <a:normAutofit/>
          </a:bodyPr>
          <a:lstStyle/>
          <a:p>
            <a:r>
              <a:rPr lang="th-TH" sz="4000" dirty="0">
                <a:effectLst/>
              </a:rPr>
              <a:t>เหตุการณ์เหล่านี้เกิดขึ้นกับพวกเขาเพื่อเป็นตัวอย่าง และได้เขียนไว้เพื่อเตือนสติเราผู้ซึ่งมาถึงวาระสุดท้ายของยุคนี้แล้ว</a:t>
            </a:r>
            <a:br>
              <a:rPr lang="th-TH" sz="4000" dirty="0">
                <a:effectLst/>
              </a:rPr>
            </a:br>
            <a:r>
              <a:rPr lang="th-TH" sz="4000" dirty="0">
                <a:effectLst/>
              </a:rPr>
              <a:t>1โคริน</a:t>
            </a:r>
            <a:r>
              <a:rPr lang="th-TH" sz="4000" dirty="0" err="1">
                <a:effectLst/>
              </a:rPr>
              <a:t>ธ์</a:t>
            </a:r>
            <a:r>
              <a:rPr lang="th-TH" sz="4000" dirty="0">
                <a:effectLst/>
              </a:rPr>
              <a:t> 10</a:t>
            </a:r>
            <a:r>
              <a:rPr lang="en-US" sz="4000" dirty="0">
                <a:effectLst/>
              </a:rPr>
              <a:t>:</a:t>
            </a:r>
            <a:r>
              <a:rPr lang="th-TH" sz="4000" dirty="0">
                <a:effectLst/>
              </a:rPr>
              <a:t>11</a:t>
            </a:r>
            <a:endParaRPr lang="th-TH" sz="4000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E49D2641-9505-A6D1-3030-D8F392366D13}"/>
              </a:ext>
            </a:extLst>
          </p:cNvPr>
          <p:cNvSpPr txBox="1">
            <a:spLocks/>
          </p:cNvSpPr>
          <p:nvPr/>
        </p:nvSpPr>
        <p:spPr>
          <a:xfrm>
            <a:off x="609600" y="3721968"/>
            <a:ext cx="8229600" cy="2659360"/>
          </a:xfrm>
          <a:prstGeom prst="rect">
            <a:avLst/>
          </a:prstGeom>
          <a:ln w="6350" cap="rnd">
            <a:noFill/>
          </a:ln>
        </p:spPr>
        <p:txBody>
          <a:bodyPr vert="horz" rtlCol="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en-US" sz="4200" b="0" kern="1200" spc="-100" baseline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prstClr val="black">
                      <a:alpha val="70000"/>
                    </a:prstClr>
                  </a:inn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th-TH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8C7158D-45DA-6C8D-E6ED-F534EFCF064D}"/>
              </a:ext>
            </a:extLst>
          </p:cNvPr>
          <p:cNvSpPr txBox="1">
            <a:spLocks/>
          </p:cNvSpPr>
          <p:nvPr/>
        </p:nvSpPr>
        <p:spPr>
          <a:xfrm>
            <a:off x="539552" y="3717032"/>
            <a:ext cx="8229600" cy="2232248"/>
          </a:xfrm>
          <a:prstGeom prst="rect">
            <a:avLst/>
          </a:prstGeom>
          <a:ln w="6350" cap="rnd">
            <a:noFill/>
          </a:ln>
        </p:spPr>
        <p:txBody>
          <a:bodyPr vert="horz" rtlCol="0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en-US" sz="4200" b="0" kern="1200" spc="-100" baseline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prstClr val="black">
                      <a:alpha val="70000"/>
                    </a:prstClr>
                  </a:inn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th-TH" sz="4000" dirty="0">
                <a:effectLst/>
              </a:rPr>
              <a:t>เพราะว่าสิ่งที่เขียนไว้ในสมัยก่อนนั้น ก็เขียนไว้เพื่อสั่งสอนเรา เพื่อเราจะได้มีความหวังโดยความทรหดอดทน และโดยการหนุนใจจากพระคัมภีร์</a:t>
            </a:r>
          </a:p>
          <a:p>
            <a:r>
              <a:rPr lang="th-TH" sz="4000" dirty="0">
                <a:effectLst/>
              </a:rPr>
              <a:t>โรม 15</a:t>
            </a:r>
            <a:r>
              <a:rPr lang="en-US" sz="4000" dirty="0">
                <a:effectLst/>
              </a:rPr>
              <a:t>:</a:t>
            </a:r>
            <a:r>
              <a:rPr lang="th-TH" sz="4000" dirty="0">
                <a:effectLst/>
              </a:rPr>
              <a:t>4</a:t>
            </a:r>
            <a:endParaRPr lang="th-TH" sz="4000" dirty="0"/>
          </a:p>
        </p:txBody>
      </p:sp>
    </p:spTree>
    <p:extLst>
      <p:ext uri="{BB962C8B-B14F-4D97-AF65-F5344CB8AC3E}">
        <p14:creationId xmlns:p14="http://schemas.microsoft.com/office/powerpoint/2010/main" val="27277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65B05-5676-DD24-260D-4300716F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D7B747-0DCD-38F9-3B5C-1D0FA0310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-171400"/>
            <a:ext cx="8928992" cy="6552728"/>
          </a:xfrm>
        </p:spPr>
        <p:txBody>
          <a:bodyPr>
            <a:noAutofit/>
          </a:bodyPr>
          <a:lstStyle/>
          <a:p>
            <a:r>
              <a:rPr lang="th-TH" sz="3600" dirty="0">
                <a:effectLst/>
              </a:rPr>
              <a:t>“อย่าคิดว่าเรามาล้มเลิกธรรมบัญญัติและคำของบรรดาผู้เผยพระวจนะ เราไม่ได้มาล้มเลิก แต่มาทำให้สมบูรณ์ทุกประการ เพราะเราบอกความจริงแก่ท่านทั้งหลายว่า จนกว่าฟ้าและดินจะล่วงไป แม้อักษรที่เล็กที่สุด หรือขีด ขีดหนึ่ง ก็จะไม่มีวันสูญไปจากธรรมบัญญัติ จนกว่าทุกสิ่งจะเกิดขึ้น เพราะฉะนั้น ใครทำให้ข้อเล็กน้อยเพียงข้อหนึ่งในพระบัญญัตินี้ มีความสำคัญน้อยลง และสอนคนอื่นให้ทำอย่างนั้นด้วย คนนั้นจะได้ชื่อว่าเป็นผู้เล็กน้อยที่สุดในแผ่นดินสวรรค์ แต่ใครที่ประพฤติและสอนตามธรรมบัญญัติ คนนั้นจะได้ชื่อว่าเป็นใหญ่ในแผ่นดินสวรรค์ เพราะเราบอกพวกท่านว่า ถ้าความชอบธรรมของท่านไม่มากกว่าความชอบธรรมของพวกธรรมาจารย์และพวกฟาริสี พวกท่านจะไม่มีวันได้เข้าสู่แผ่นดินสวรรค์</a:t>
            </a:r>
            <a:br>
              <a:rPr lang="th-TH" sz="3600" dirty="0">
                <a:effectLst/>
              </a:rPr>
            </a:br>
            <a:r>
              <a:rPr lang="th-TH" sz="3200" dirty="0" err="1">
                <a:effectLst/>
              </a:rPr>
              <a:t>มั</a:t>
            </a:r>
            <a:r>
              <a:rPr lang="th-TH" sz="3200" dirty="0">
                <a:effectLst/>
              </a:rPr>
              <a:t>ทธิว 5</a:t>
            </a:r>
            <a:r>
              <a:rPr lang="en-US" sz="3200" dirty="0">
                <a:effectLst/>
              </a:rPr>
              <a:t>:</a:t>
            </a:r>
            <a:r>
              <a:rPr lang="th-TH" sz="3200" dirty="0">
                <a:effectLst/>
              </a:rPr>
              <a:t>17-19</a:t>
            </a:r>
            <a:endParaRPr lang="th-TH" sz="3600" dirty="0"/>
          </a:p>
        </p:txBody>
      </p:sp>
    </p:spTree>
    <p:extLst>
      <p:ext uri="{BB962C8B-B14F-4D97-AF65-F5344CB8AC3E}">
        <p14:creationId xmlns:p14="http://schemas.microsoft.com/office/powerpoint/2010/main" val="206475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6236C-E819-D00A-507A-DAB14E4EE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112D0F-9C11-1ABF-16E1-C31A27C44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6000" dirty="0"/>
              <a:t>จากเริ่มต้น จนถึง สุดท้าย......</a:t>
            </a:r>
          </a:p>
          <a:p>
            <a:pPr marL="0" indent="0">
              <a:buNone/>
            </a:pPr>
            <a:endParaRPr lang="th-TH" sz="6000" dirty="0"/>
          </a:p>
          <a:p>
            <a:pPr marL="0" indent="0">
              <a:buNone/>
            </a:pPr>
            <a:r>
              <a:rPr lang="th-TH" sz="6000" dirty="0"/>
              <a:t>......</a:t>
            </a:r>
            <a:r>
              <a:rPr lang="th-TH" sz="6600" dirty="0"/>
              <a:t>พระเยซูคริสต์เป็นศูนย์กลาง</a:t>
            </a:r>
            <a:endParaRPr lang="th-TH" sz="6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A373D4-00FD-1FBD-C57F-51C14302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5400" dirty="0"/>
              <a:t>ประวัติศาสตร์ในพระคัมภีร์เดิม</a:t>
            </a:r>
          </a:p>
        </p:txBody>
      </p:sp>
    </p:spTree>
    <p:extLst>
      <p:ext uri="{BB962C8B-B14F-4D97-AF65-F5344CB8AC3E}">
        <p14:creationId xmlns:p14="http://schemas.microsoft.com/office/powerpoint/2010/main" val="380707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52EBB4-B4B5-DC51-FB69-0C8B4E06F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67" y="1124744"/>
            <a:ext cx="8704967" cy="4896544"/>
          </a:xfrm>
        </p:spPr>
      </p:pic>
    </p:spTree>
    <p:extLst>
      <p:ext uri="{BB962C8B-B14F-4D97-AF65-F5344CB8AC3E}">
        <p14:creationId xmlns:p14="http://schemas.microsoft.com/office/powerpoint/2010/main" val="3463234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139E37-9805-ED7B-9601-F49BEEF2A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412776"/>
            <a:ext cx="8877406" cy="4157311"/>
          </a:xfrm>
        </p:spPr>
      </p:pic>
    </p:spTree>
    <p:extLst>
      <p:ext uri="{BB962C8B-B14F-4D97-AF65-F5344CB8AC3E}">
        <p14:creationId xmlns:p14="http://schemas.microsoft.com/office/powerpoint/2010/main" val="3223021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9AF88-C6A2-486A-9C73-38DD2F91F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4D3BE4-5A2E-B610-AC8C-A21C0F09A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793432"/>
          </a:xfrm>
        </p:spPr>
        <p:txBody>
          <a:bodyPr>
            <a:normAutofit/>
          </a:bodyPr>
          <a:lstStyle/>
          <a:p>
            <a:r>
              <a:rPr lang="th-TH" sz="5400" dirty="0"/>
              <a:t>มีพระเจ้าองค์เดียว</a:t>
            </a:r>
            <a:endParaRPr lang="en-US" sz="5400" dirty="0"/>
          </a:p>
          <a:p>
            <a:r>
              <a:rPr lang="th-TH" sz="5400" dirty="0"/>
              <a:t>เข้าสุหนัต</a:t>
            </a:r>
          </a:p>
          <a:p>
            <a:endParaRPr lang="th-TH" sz="5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90F166-E200-330C-69A3-C5909AFC3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5400" dirty="0"/>
              <a:t>ลักษณะสำคัญของคน</a:t>
            </a:r>
            <a:r>
              <a:rPr lang="th-TH" sz="5400" dirty="0" err="1"/>
              <a:t>ฮีบ</a:t>
            </a:r>
            <a:r>
              <a:rPr lang="th-TH" sz="5400" dirty="0"/>
              <a:t>รู</a:t>
            </a:r>
          </a:p>
        </p:txBody>
      </p:sp>
    </p:spTree>
    <p:extLst>
      <p:ext uri="{BB962C8B-B14F-4D97-AF65-F5344CB8AC3E}">
        <p14:creationId xmlns:p14="http://schemas.microsoft.com/office/powerpoint/2010/main" val="401215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5DCA73-4EE8-8898-13A3-BC7F9706B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793432"/>
          </a:xfrm>
        </p:spPr>
        <p:txBody>
          <a:bodyPr>
            <a:normAutofit/>
          </a:bodyPr>
          <a:lstStyle/>
          <a:p>
            <a:r>
              <a:rPr lang="th-TH" sz="3200" dirty="0"/>
              <a:t>การทรงสร้าง - 2166 กคศ. การทรงสร้าง-น้ำท่วมโลก-อับราฮาม</a:t>
            </a:r>
            <a:endParaRPr lang="en-US" sz="3200" dirty="0"/>
          </a:p>
          <a:p>
            <a:r>
              <a:rPr lang="th-TH" sz="3200" dirty="0"/>
              <a:t>2166-1876 กคศ. อับราฮาม ครอบครัวยาโคบอ</a:t>
            </a:r>
            <a:r>
              <a:rPr lang="th-TH" sz="3200" dirty="0" err="1"/>
              <a:t>พยพ</a:t>
            </a:r>
            <a:r>
              <a:rPr lang="th-TH" sz="3200" dirty="0"/>
              <a:t>ไปอียิปต์</a:t>
            </a:r>
          </a:p>
          <a:p>
            <a:r>
              <a:rPr lang="th-TH" sz="3200" dirty="0"/>
              <a:t>1876-1446 กคศ. อิสราเอลอาศัยอยู่ในอียิปต์</a:t>
            </a:r>
          </a:p>
          <a:p>
            <a:r>
              <a:rPr lang="th-TH" sz="3200" dirty="0"/>
              <a:t>1446-1406 กคศ. การอพยพเร่ร่อน อยู่ในถิ่นทุรกันดาร</a:t>
            </a:r>
          </a:p>
          <a:p>
            <a:r>
              <a:rPr lang="th-TH" sz="3200" dirty="0"/>
              <a:t>1406-1043 กคศ. การยึดครองแผ่นดินคานาอัน และสมัยของผู้วินิจฉัย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526791-3713-A3B7-920F-347F21D8E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5400" dirty="0"/>
              <a:t>ลำดับเหตุการณ์ในพระคัมภีร์เดิม</a:t>
            </a:r>
          </a:p>
        </p:txBody>
      </p:sp>
    </p:spTree>
    <p:extLst>
      <p:ext uri="{BB962C8B-B14F-4D97-AF65-F5344CB8AC3E}">
        <p14:creationId xmlns:p14="http://schemas.microsoft.com/office/powerpoint/2010/main" val="353573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622543-3052-B6E3-DB7C-BF8873C39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sz="4000" dirty="0" err="1"/>
              <a:t>ฮีบ</a:t>
            </a:r>
            <a:r>
              <a:rPr lang="th-TH" sz="4000" dirty="0"/>
              <a:t>รู</a:t>
            </a:r>
          </a:p>
          <a:p>
            <a:r>
              <a:rPr lang="th-TH" sz="4000" dirty="0"/>
              <a:t>ยิว ยูดาย</a:t>
            </a:r>
          </a:p>
          <a:p>
            <a:r>
              <a:rPr lang="th-TH" sz="4000" dirty="0"/>
              <a:t>อิสราเอล</a:t>
            </a:r>
            <a:endParaRPr lang="th-TH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C477D8-38C2-3D59-B5B9-5CE58DE4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ชนชาติ</a:t>
            </a:r>
          </a:p>
        </p:txBody>
      </p:sp>
    </p:spTree>
    <p:extLst>
      <p:ext uri="{BB962C8B-B14F-4D97-AF65-F5344CB8AC3E}">
        <p14:creationId xmlns:p14="http://schemas.microsoft.com/office/powerpoint/2010/main" val="3510829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2A41-9242-BFC8-D4F7-937B4F2E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3E9C23-A955-5B6A-CD58-FDBCCAF3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793432"/>
          </a:xfrm>
        </p:spPr>
        <p:txBody>
          <a:bodyPr>
            <a:normAutofit/>
          </a:bodyPr>
          <a:lstStyle/>
          <a:p>
            <a:r>
              <a:rPr lang="th-TH" sz="3200" dirty="0"/>
              <a:t>การทรงสร้าง - 2166 กคศ. การทรงสร้าง-น้ำท่วมโลก-อับราฮาม</a:t>
            </a:r>
            <a:endParaRPr lang="en-US" sz="3200" dirty="0"/>
          </a:p>
          <a:p>
            <a:r>
              <a:rPr lang="th-TH" sz="3200" dirty="0"/>
              <a:t>2166-1876 กคศ. อับราฮาม ครอบครัวยาโคบอ</a:t>
            </a:r>
            <a:r>
              <a:rPr lang="th-TH" sz="3200" dirty="0" err="1"/>
              <a:t>พยพ</a:t>
            </a:r>
            <a:r>
              <a:rPr lang="th-TH" sz="3200" dirty="0"/>
              <a:t>ไปอียิปต์</a:t>
            </a:r>
          </a:p>
          <a:p>
            <a:r>
              <a:rPr lang="th-TH" sz="3200" dirty="0"/>
              <a:t>1876-1446 กคศ. อิสราเอลอาศัยอยู่ในอียิปต์</a:t>
            </a:r>
          </a:p>
          <a:p>
            <a:r>
              <a:rPr lang="th-TH" sz="3200" dirty="0"/>
              <a:t>1446-1406 กคศ. การอพยพเร่ร่อน อยู่ในถิ่นทุรกันดาร</a:t>
            </a:r>
          </a:p>
          <a:p>
            <a:r>
              <a:rPr lang="th-TH" sz="3200" dirty="0"/>
              <a:t>1406-1043 กคศ. การยึดครองแผ่นดินคานาอัน และสมัยของผู้วินิจฉัย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E93F79-24F9-15C0-0382-0885BE5D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5400" dirty="0"/>
              <a:t>ลำดับเหตุการณ์ในพระคัมภีร์เดิม</a:t>
            </a:r>
          </a:p>
        </p:txBody>
      </p:sp>
    </p:spTree>
    <p:extLst>
      <p:ext uri="{BB962C8B-B14F-4D97-AF65-F5344CB8AC3E}">
        <p14:creationId xmlns:p14="http://schemas.microsoft.com/office/powerpoint/2010/main" val="51419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137CF-F6D9-5E9E-7F96-90D93033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6EF68A-5427-BDD0-4527-294382AF6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793432"/>
          </a:xfrm>
        </p:spPr>
        <p:txBody>
          <a:bodyPr>
            <a:normAutofit/>
          </a:bodyPr>
          <a:lstStyle/>
          <a:p>
            <a:r>
              <a:rPr lang="th-TH" sz="3200" dirty="0"/>
              <a:t>1043-931 กคศ. การปกครองแบบราชา</a:t>
            </a:r>
            <a:r>
              <a:rPr lang="th-TH" sz="3200" dirty="0" err="1"/>
              <a:t>ธิป</a:t>
            </a:r>
            <a:r>
              <a:rPr lang="th-TH" sz="3200" dirty="0"/>
              <a:t>ไตย อาณาจักรเดียว</a:t>
            </a:r>
          </a:p>
          <a:p>
            <a:r>
              <a:rPr lang="th-TH" sz="3200" dirty="0"/>
              <a:t>931-722 กคศ. การปกครองแบบราชา</a:t>
            </a:r>
            <a:r>
              <a:rPr lang="th-TH" sz="3200" dirty="0" err="1"/>
              <a:t>ธิป</a:t>
            </a:r>
            <a:r>
              <a:rPr lang="th-TH" sz="3200" dirty="0"/>
              <a:t>ไตย อาณาจักรเหนือ-ใต้</a:t>
            </a:r>
          </a:p>
          <a:p>
            <a:r>
              <a:rPr lang="th-TH" sz="3200" dirty="0"/>
              <a:t>722-586 กคศ. อาณาจักรยูดา</a:t>
            </a:r>
            <a:r>
              <a:rPr lang="th-TH" sz="3200" dirty="0" err="1"/>
              <a:t>ห์</a:t>
            </a:r>
            <a:r>
              <a:rPr lang="th-TH" sz="3200" dirty="0"/>
              <a:t>(อาณาจักรใต้)/อาณาจักรเหนือล่มสลาย</a:t>
            </a:r>
          </a:p>
          <a:p>
            <a:r>
              <a:rPr lang="th-TH" sz="3200" dirty="0"/>
              <a:t>586-538 กคศ. เยรูซาเล็มถูกทำลาย เป็นเชลยในบา</a:t>
            </a:r>
            <a:r>
              <a:rPr lang="th-TH" sz="3200" dirty="0" err="1"/>
              <a:t>บิโ</a:t>
            </a:r>
            <a:r>
              <a:rPr lang="th-TH" sz="3200" dirty="0"/>
              <a:t>ลน</a:t>
            </a:r>
          </a:p>
          <a:p>
            <a:r>
              <a:rPr lang="th-TH" sz="3200" dirty="0"/>
              <a:t>538-430 กคศ. กลับสู่แผ่นดินคานาอัน หลังจากการเป็นเชลย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9E42DF-C39E-2DFE-E985-ECB8751C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5400" dirty="0"/>
              <a:t>ลำดับเหตุการณ์ในพระคัมภีร์เดิม</a:t>
            </a:r>
          </a:p>
        </p:txBody>
      </p:sp>
    </p:spTree>
    <p:extLst>
      <p:ext uri="{BB962C8B-B14F-4D97-AF65-F5344CB8AC3E}">
        <p14:creationId xmlns:p14="http://schemas.microsoft.com/office/powerpoint/2010/main" val="3426710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D27F45-4F51-38F2-E7E0-56675ECCA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E9FFCCE-736C-BF47-7142-5B70CC8FE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639"/>
            <a:ext cx="4537371" cy="6856361"/>
          </a:xfrm>
        </p:spPr>
      </p:pic>
    </p:spTree>
    <p:extLst>
      <p:ext uri="{BB962C8B-B14F-4D97-AF65-F5344CB8AC3E}">
        <p14:creationId xmlns:p14="http://schemas.microsoft.com/office/powerpoint/2010/main" val="2758243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A748FD-4253-549D-E25F-EBBA0C866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9243"/>
            <a:ext cx="5400600" cy="682336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F03E3BC-5FB1-4EE0-A581-7A0705A1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2147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C55EB3-4FA9-2824-9470-BD7CFEC67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dirty="0"/>
              <a:t>สุเมเรียน           4000 กคศ.</a:t>
            </a:r>
          </a:p>
          <a:p>
            <a:r>
              <a:rPr lang="th-TH" sz="4000" dirty="0" err="1"/>
              <a:t>อัค</a:t>
            </a:r>
            <a:r>
              <a:rPr lang="th-TH" sz="4000" dirty="0"/>
              <a:t>คาเดี</a:t>
            </a:r>
            <a:r>
              <a:rPr lang="th-TH" sz="4000" dirty="0" err="1"/>
              <a:t>ยน</a:t>
            </a:r>
            <a:r>
              <a:rPr lang="th-TH" sz="4000" dirty="0"/>
              <a:t>        2300-2000 </a:t>
            </a:r>
            <a:r>
              <a:rPr lang="th-TH" sz="4000" dirty="0" err="1"/>
              <a:t>กคศ</a:t>
            </a:r>
            <a:endParaRPr lang="th-TH" sz="4000" dirty="0"/>
          </a:p>
          <a:p>
            <a:r>
              <a:rPr lang="th-TH" sz="4000" dirty="0"/>
              <a:t>บา</a:t>
            </a:r>
            <a:r>
              <a:rPr lang="th-TH" sz="4000" dirty="0" err="1"/>
              <a:t>บิโลเนีย</a:t>
            </a:r>
            <a:r>
              <a:rPr lang="th-TH" sz="4000" dirty="0"/>
              <a:t>        2000-1595 กคศ.</a:t>
            </a:r>
          </a:p>
          <a:p>
            <a:r>
              <a:rPr lang="th-TH" sz="4000" dirty="0"/>
              <a:t>อัสซีเรีย           900-612 กคศ.</a:t>
            </a:r>
          </a:p>
          <a:p>
            <a:r>
              <a:rPr lang="th-TH" sz="4000" dirty="0"/>
              <a:t>นีโอ-บา</a:t>
            </a:r>
            <a:r>
              <a:rPr lang="th-TH" sz="4000" dirty="0" err="1"/>
              <a:t>บิโ</a:t>
            </a:r>
            <a:r>
              <a:rPr lang="th-TH" sz="4000" dirty="0"/>
              <a:t>ลน    612-538 กคศ.</a:t>
            </a:r>
          </a:p>
          <a:p>
            <a:r>
              <a:rPr lang="th-TH" sz="4000" dirty="0"/>
              <a:t>เปอร์เซีย          538-331 กคศ.</a:t>
            </a:r>
          </a:p>
          <a:p>
            <a:endParaRPr lang="th-TH" sz="4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34FD18-852B-9CD5-B58A-39FA002A9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4800" dirty="0"/>
              <a:t>อาณาจักร ในบริเวณเม</a:t>
            </a:r>
            <a:r>
              <a:rPr lang="th-TH" sz="4800" dirty="0" err="1"/>
              <a:t>โส</a:t>
            </a:r>
            <a:r>
              <a:rPr lang="th-TH" sz="4800" dirty="0"/>
              <a:t>โป</a:t>
            </a:r>
            <a:r>
              <a:rPr lang="th-TH" sz="4800" dirty="0" err="1"/>
              <a:t>เต</a:t>
            </a:r>
            <a:r>
              <a:rPr lang="th-TH" sz="4800" dirty="0"/>
              <a:t>เมีย</a:t>
            </a:r>
          </a:p>
        </p:txBody>
      </p:sp>
    </p:spTree>
    <p:extLst>
      <p:ext uri="{BB962C8B-B14F-4D97-AF65-F5344CB8AC3E}">
        <p14:creationId xmlns:p14="http://schemas.microsoft.com/office/powerpoint/2010/main" val="283644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3267BC-28E8-697A-2F07-D849C3662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052736"/>
            <a:ext cx="8568951" cy="490964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40AE1D1-3FB7-CBDB-556A-4910C0367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03739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7563D3-AB2A-B060-1C08-CC90446C3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484784"/>
            <a:ext cx="8784976" cy="5040560"/>
          </a:xfrm>
        </p:spPr>
        <p:txBody>
          <a:bodyPr>
            <a:noAutofit/>
          </a:bodyPr>
          <a:lstStyle/>
          <a:p>
            <a:r>
              <a:rPr lang="th-TH" dirty="0"/>
              <a:t>โยชูวา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 (</a:t>
            </a:r>
            <a:r>
              <a:rPr lang="th-TH" altLang="th-TH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Joshua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 เรื่องราวการนำชนชาติอิสราเอลเข้าสู่แผ่นดินคานาอัน</a:t>
            </a:r>
            <a:endParaRPr lang="th-TH" dirty="0"/>
          </a:p>
          <a:p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ผู้วินิจฉัย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Judges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 ยุคที่อิสราเอลปกครองโดยผู้วินิจฉัยก่อนมีกษัตริย์</a:t>
            </a:r>
          </a:p>
          <a:p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นางรูธ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Ruth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 เรื่องราวความรักและความเชื่อมั่นท่ามกลางยุคผู้วินิจฉัย</a:t>
            </a:r>
          </a:p>
          <a:p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1-2 ซามูเอล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 (1-2 </a:t>
            </a:r>
            <a:r>
              <a:rPr lang="th-TH" altLang="th-TH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Samuel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 การก่อตั้งสถาบันกษัตริย์และยุคของกษัตริย์ซา</a:t>
            </a:r>
            <a:r>
              <a:rPr lang="th-TH" altLang="th-TH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อูลแ</a:t>
            </a:r>
            <a:r>
              <a:rPr lang="th-TH" alt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ละดาวิด</a:t>
            </a:r>
          </a:p>
          <a:p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1-2 พงศ์กษัตริย์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 (1-2 </a:t>
            </a:r>
            <a:r>
              <a:rPr lang="th-TH" altLang="th-TH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Kings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 เรื่องราวของกษัตริย์ซา</a:t>
            </a:r>
            <a:r>
              <a:rPr lang="th-TH" altLang="th-TH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โล</a:t>
            </a:r>
            <a:r>
              <a:rPr lang="th-TH" alt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มอน, การแบ่งแยกอาณาจักร จนถึงการล่มสลาย</a:t>
            </a:r>
          </a:p>
          <a:p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1-2 พงศาวดาร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 (1-2 </a:t>
            </a:r>
            <a:r>
              <a:rPr lang="th-TH" altLang="th-TH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Chronicles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 เล่าประวัติศาสตร์กษัตริย์อีกครั้ง โดยเน้นมุมมองด้านศาสนาและการนมัสการ</a:t>
            </a:r>
          </a:p>
          <a:p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เอสรา-เนหะมี</a:t>
            </a:r>
            <a:r>
              <a:rPr lang="th-TH" altLang="th-TH" b="1" dirty="0" err="1">
                <a:latin typeface="Cordia New" panose="020B0304020202020204" pitchFamily="34" charset="-34"/>
                <a:cs typeface="Cordia New" panose="020B0304020202020204" pitchFamily="34" charset="-34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ย์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Ezra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-</a:t>
            </a:r>
            <a:r>
              <a:rPr lang="th-TH" altLang="th-TH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Nehemiah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 การกลับจากการเป็นเชลยในบา</a:t>
            </a:r>
            <a:r>
              <a:rPr lang="th-TH" altLang="th-TH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บิโ</a:t>
            </a:r>
            <a:r>
              <a:rPr lang="th-TH" alt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ลนและการสร้างพระวิหาร/กำแพงเมืองเยรูซาเล็มขึ้นใหม่</a:t>
            </a:r>
          </a:p>
          <a:p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เอส</a:t>
            </a:r>
            <a:r>
              <a:rPr lang="th-TH" altLang="th-TH" b="1" dirty="0" err="1">
                <a:latin typeface="Cordia New" panose="020B0304020202020204" pitchFamily="34" charset="-34"/>
                <a:cs typeface="Cordia New" panose="020B0304020202020204" pitchFamily="34" charset="-34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เธ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อร์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Esther</a:t>
            </a:r>
            <a:r>
              <a:rPr lang="th-TH" altLang="th-TH" b="1" dirty="0"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 เรื่องราวการช่วยกู้ชนชาติยิวจากการฆ่าล้างเผ่าพันธุ์ในเปอร์เซีย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481B54-0E0A-A4C2-7988-C075968B9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dirty="0"/>
              <a:t>หนังสือแนวประวัติศาสตร์ในพระคัมภีร์เดิม</a:t>
            </a:r>
          </a:p>
        </p:txBody>
      </p:sp>
    </p:spTree>
    <p:extLst>
      <p:ext uri="{BB962C8B-B14F-4D97-AF65-F5344CB8AC3E}">
        <p14:creationId xmlns:p14="http://schemas.microsoft.com/office/powerpoint/2010/main" val="151726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CF649-EEC4-54BE-4CB2-CB1E92CE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308796-43BD-D6A6-C69E-650C7978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 dirty="0"/>
              <a:t>ชัยชนะและการยึดครองแผ่นดินคานาอัน</a:t>
            </a:r>
          </a:p>
          <a:p>
            <a:r>
              <a:rPr lang="th-TH" sz="3600" dirty="0"/>
              <a:t>ช่วงการปกครองโดยผู้วินิจฉัย</a:t>
            </a:r>
          </a:p>
          <a:p>
            <a:r>
              <a:rPr lang="th-TH" sz="3600" dirty="0"/>
              <a:t>การสถาปนากษัตริย์</a:t>
            </a:r>
          </a:p>
          <a:p>
            <a:r>
              <a:rPr lang="th-TH" sz="3600" dirty="0"/>
              <a:t>การแบ่งแยกดินแดนออกเป็นอาณาจักรเหนือ-ใต้</a:t>
            </a:r>
          </a:p>
          <a:p>
            <a:r>
              <a:rPr lang="th-TH" sz="3600" dirty="0"/>
              <a:t>ความพ่ายแพ้ของอาณาจักรเหนือ</a:t>
            </a:r>
            <a:r>
              <a:rPr lang="th-TH" sz="3600" dirty="0" err="1"/>
              <a:t>ต่</a:t>
            </a:r>
            <a:r>
              <a:rPr lang="th-TH" sz="3600" dirty="0"/>
              <a:t>ออ</a:t>
            </a:r>
            <a:r>
              <a:rPr lang="th-TH" sz="3600" dirty="0" err="1"/>
              <a:t>ัส</a:t>
            </a:r>
            <a:r>
              <a:rPr lang="th-TH" sz="3600" dirty="0"/>
              <a:t>ซีเรีย</a:t>
            </a:r>
          </a:p>
          <a:p>
            <a:r>
              <a:rPr lang="th-TH" sz="3600" dirty="0"/>
              <a:t>การไปเป็นเชลยของอาณาจักรใต้ต่อบา</a:t>
            </a:r>
            <a:r>
              <a:rPr lang="th-TH" sz="3600" dirty="0" err="1"/>
              <a:t>บิโ</a:t>
            </a:r>
            <a:r>
              <a:rPr lang="th-TH" sz="3600" dirty="0"/>
              <a:t>ลน</a:t>
            </a:r>
          </a:p>
          <a:p>
            <a:r>
              <a:rPr lang="th-TH" sz="3600" dirty="0"/>
              <a:t>การกลับสู่เยรูซาเล็มภายใต้การนำของเนหะมี</a:t>
            </a:r>
            <a:r>
              <a:rPr lang="th-TH" sz="3600" dirty="0" err="1"/>
              <a:t>ย์</a:t>
            </a:r>
            <a:r>
              <a:rPr lang="th-TH" sz="3600" dirty="0"/>
              <a:t> และเอสรา</a:t>
            </a:r>
          </a:p>
          <a:p>
            <a:endParaRPr lang="th-TH" sz="3600" dirty="0"/>
          </a:p>
          <a:p>
            <a:pPr marL="0" indent="0">
              <a:buNone/>
            </a:pPr>
            <a:endParaRPr lang="th-TH" sz="3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774F47-4E3C-BABA-1979-11EEA8F84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dirty="0"/>
              <a:t>หนังสือ 12 เล่ม บอกเราถึงเรื่องต่อไปนี้</a:t>
            </a:r>
          </a:p>
        </p:txBody>
      </p:sp>
    </p:spTree>
    <p:extLst>
      <p:ext uri="{BB962C8B-B14F-4D97-AF65-F5344CB8AC3E}">
        <p14:creationId xmlns:p14="http://schemas.microsoft.com/office/powerpoint/2010/main" val="174082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12D8C-2BA8-B7FB-F194-7AAD012C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E7C04D-E8CA-AD99-B0F1-E791E93E0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 dirty="0"/>
              <a:t>ประวัติศาสตร์ของอิสราเอลไม่สามารถแยกออกจากแผ่นดิน แห่งพันธสัญญา</a:t>
            </a:r>
          </a:p>
          <a:p>
            <a:r>
              <a:rPr lang="th-TH" sz="3600" dirty="0"/>
              <a:t>เป็นเรื่องที่เกี่ยวข้องกับผู้นำ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08FA1-B60B-D94F-2EDF-111837283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4400" dirty="0"/>
              <a:t>ประวัติศาสตร์ในพระคัมภีร์เดิม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4880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348D8B-49EF-A49D-551A-E6F1F673F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2" y="89783"/>
            <a:ext cx="4680000" cy="6480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DB368-ED37-EEDD-885F-1B4C937D8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406" y="73181"/>
            <a:ext cx="4621968" cy="6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CB18BD-4703-EA86-004B-5FC02ECF6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200" b="1" dirty="0"/>
              <a:t>แผ่นดิน:</a:t>
            </a:r>
            <a:r>
              <a:rPr lang="th-TH" sz="3200" dirty="0"/>
              <a:t> พระเจ้าสัญญาประทานดินแดนคานาอันให้แก่อับรา</a:t>
            </a:r>
            <a:r>
              <a:rPr lang="th-TH" sz="3200" dirty="0" err="1"/>
              <a:t>ฮัมแ</a:t>
            </a:r>
            <a:r>
              <a:rPr lang="th-TH" sz="3200" dirty="0"/>
              <a:t>ละลูกหลาน</a:t>
            </a:r>
          </a:p>
          <a:p>
            <a:r>
              <a:rPr lang="th-TH" sz="3200" b="1" dirty="0"/>
              <a:t>เชื้อสาย:</a:t>
            </a:r>
            <a:r>
              <a:rPr lang="th-TH" sz="3200" dirty="0"/>
              <a:t> อับราฮัมจะมีลูกหลานมากมายนับไม่ถ้วน แม้ว่าซารา</a:t>
            </a:r>
            <a:r>
              <a:rPr lang="th-TH" sz="3200" dirty="0" err="1"/>
              <a:t>ห์</a:t>
            </a:r>
            <a:r>
              <a:rPr lang="th-TH" sz="3200" dirty="0"/>
              <a:t>ภรรยาของเขาจะเป็นหมัน</a:t>
            </a:r>
          </a:p>
          <a:p>
            <a:r>
              <a:rPr lang="th-TH" sz="3200" b="1" dirty="0"/>
              <a:t>พระพร:</a:t>
            </a:r>
            <a:r>
              <a:rPr lang="th-TH" sz="3200" dirty="0"/>
              <a:t> พระเจ้าจะทรงอวยพรผู้ที่อวยพรท่าน และแช่งสาปผู้ที่แช่งสาปท่าน ผ่านทางท่านประชาชาติทั้งหมดจะได้รับพร</a:t>
            </a:r>
          </a:p>
          <a:p>
            <a:r>
              <a:rPr lang="th-TH" sz="3200" b="1" dirty="0"/>
              <a:t>สัญลักษณ์ (</a:t>
            </a:r>
            <a:r>
              <a:rPr lang="th-TH" sz="3200" b="1" dirty="0">
                <a:solidFill>
                  <a:schemeClr val="tx2">
                    <a:lumMod val="9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การเข้าสุนัต</a:t>
            </a:r>
            <a:r>
              <a:rPr lang="th-TH" sz="3200" b="1" dirty="0"/>
              <a:t>):</a:t>
            </a:r>
            <a:r>
              <a:rPr lang="th-TH" sz="3200" dirty="0"/>
              <a:t> พระเจ้ากำหนดให้ผู้ชายทุกคนในเชื้อสายอับรา</a:t>
            </a:r>
            <a:r>
              <a:rPr lang="th-TH" sz="3200" dirty="0" err="1"/>
              <a:t>ฮัมต้</a:t>
            </a:r>
            <a:r>
              <a:rPr lang="th-TH" sz="3200" dirty="0"/>
              <a:t>องเข้าสุนัตเพื่อเป็นเครื่องหมายของพันธสัญญา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6EE567-C50F-BDCF-3882-BC83273B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effectLst/>
              </a:rPr>
              <a:t>พันธสัญญาของพระเจ้ากับอับราฮัม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532074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8A02F5-05C0-BA31-CC7C-43441783A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24000"/>
            <a:ext cx="8640960" cy="5001344"/>
          </a:xfrm>
        </p:spPr>
        <p:txBody>
          <a:bodyPr>
            <a:normAutofit/>
          </a:bodyPr>
          <a:lstStyle/>
          <a:p>
            <a:r>
              <a:rPr lang="th-TH" sz="3200" b="1" dirty="0"/>
              <a:t>บุตรจากซารา</a:t>
            </a:r>
            <a:r>
              <a:rPr lang="th-TH" sz="3200" b="1" dirty="0" err="1"/>
              <a:t>ห์</a:t>
            </a:r>
            <a:r>
              <a:rPr lang="th-TH" sz="3200" b="1" dirty="0"/>
              <a:t> (ภรรยาคนแรก):</a:t>
            </a:r>
            <a:r>
              <a:rPr lang="th-TH" sz="3200" dirty="0"/>
              <a:t> </a:t>
            </a:r>
            <a:r>
              <a:rPr lang="th-TH" sz="3200" b="1" dirty="0">
                <a:solidFill>
                  <a:schemeClr val="tx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อิสอ</a:t>
            </a:r>
            <a:r>
              <a:rPr lang="th-TH" sz="3200" b="1" dirty="0" err="1">
                <a:solidFill>
                  <a:schemeClr val="tx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ัค</a:t>
            </a:r>
            <a:r>
              <a:rPr lang="th-TH" sz="3200" b="1" dirty="0">
                <a:solidFill>
                  <a:schemeClr val="tx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Isaac)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th-TH" sz="3200" dirty="0"/>
              <a:t>บุตรแห่งพันธสัญญาที่พระเจ้าสัญญาไว้ เกิดตอนอับราฮัมอายุ 100 ปี เป็นผู้สืบทอดเชื้อสายที่ได้รับพร</a:t>
            </a:r>
          </a:p>
          <a:p>
            <a:r>
              <a:rPr lang="th-TH" sz="3200" b="1" dirty="0"/>
              <a:t>บุตรจากฮาการ์ (อนุภรรยา/สาวใช้):</a:t>
            </a:r>
            <a:r>
              <a:rPr lang="th-TH" sz="3200" dirty="0"/>
              <a:t> </a:t>
            </a:r>
            <a:r>
              <a:rPr lang="th-TH" sz="3200" b="1" dirty="0" err="1">
                <a:solidFill>
                  <a:schemeClr val="tx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อิช</a:t>
            </a:r>
            <a:r>
              <a:rPr lang="th-TH" sz="3200" b="1" dirty="0">
                <a:solidFill>
                  <a:schemeClr val="tx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มาเอล (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Ishmael)</a:t>
            </a:r>
            <a:r>
              <a:rPr lang="en-US" sz="3200" b="1" dirty="0"/>
              <a:t>:</a:t>
            </a:r>
            <a:r>
              <a:rPr lang="en-US" sz="3200" dirty="0"/>
              <a:t> </a:t>
            </a:r>
            <a:r>
              <a:rPr lang="th-TH" sz="3200" dirty="0"/>
              <a:t>บุตรชายคนแรก เกิดตอนอับราฮัมอายุ 86 ปี เป็นต้นตระกูลชาวอาหรับ</a:t>
            </a:r>
          </a:p>
          <a:p>
            <a:r>
              <a:rPr lang="th-TH" sz="3200" b="1" dirty="0"/>
              <a:t>บุตรจากเคทูรา</a:t>
            </a:r>
            <a:r>
              <a:rPr lang="th-TH" sz="3200" b="1" dirty="0" err="1"/>
              <a:t>ห์</a:t>
            </a:r>
            <a:r>
              <a:rPr lang="th-TH" sz="3200" b="1" dirty="0"/>
              <a:t> (ภรรยาที่แต่งงานใหม่หลังซารา</a:t>
            </a:r>
            <a:r>
              <a:rPr lang="th-TH" sz="3200" b="1" dirty="0" err="1"/>
              <a:t>ห์</a:t>
            </a:r>
            <a:r>
              <a:rPr lang="th-TH" sz="3200" b="1" dirty="0"/>
              <a:t>เสียชีวิต):</a:t>
            </a:r>
            <a:r>
              <a:rPr lang="th-TH" sz="3200" b="1" dirty="0">
                <a:solidFill>
                  <a:schemeClr val="tx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ซิมราน, โยคชัน  เมดัน, มีเดียน, </a:t>
            </a:r>
            <a:r>
              <a:rPr lang="th-TH" sz="3200" b="1" dirty="0" err="1">
                <a:solidFill>
                  <a:schemeClr val="tx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อิช</a:t>
            </a:r>
            <a:r>
              <a:rPr lang="th-TH" sz="3200" b="1" dirty="0">
                <a:solidFill>
                  <a:schemeClr val="tx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บัก, ชูอา</a:t>
            </a:r>
            <a:r>
              <a:rPr lang="th-TH" sz="3200" b="1" dirty="0" err="1">
                <a:solidFill>
                  <a:schemeClr val="tx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ห์</a:t>
            </a:r>
            <a:r>
              <a:rPr lang="th-TH" sz="3200" b="1" dirty="0"/>
              <a:t>:</a:t>
            </a:r>
            <a:r>
              <a:rPr lang="th-TH" sz="3200" dirty="0"/>
              <a:t> บุตรทั้ง 6 คนนี้ อับราฮัมได้ยกทรัพย์สินส่วนหนึ่งและส่งไปอยู่ดินแดนตะวันออกห่างจากอิสอ</a:t>
            </a:r>
            <a:r>
              <a:rPr lang="th-TH" sz="3200" dirty="0" err="1"/>
              <a:t>ัค</a:t>
            </a:r>
            <a:endParaRPr lang="th-TH" sz="3200" dirty="0"/>
          </a:p>
          <a:p>
            <a:endParaRPr lang="th-TH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4E1458-CD75-0743-3AB9-D7E423DD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4800" dirty="0"/>
              <a:t>ลูกของ อับราฮาม</a:t>
            </a:r>
          </a:p>
        </p:txBody>
      </p:sp>
    </p:spTree>
    <p:extLst>
      <p:ext uri="{BB962C8B-B14F-4D97-AF65-F5344CB8AC3E}">
        <p14:creationId xmlns:p14="http://schemas.microsoft.com/office/powerpoint/2010/main" val="3562600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6FC463-DBF9-E5A4-07CC-5999BECE2E86}"/>
              </a:ext>
            </a:extLst>
          </p:cNvPr>
          <p:cNvSpPr/>
          <p:nvPr/>
        </p:nvSpPr>
        <p:spPr>
          <a:xfrm>
            <a:off x="107504" y="152400"/>
            <a:ext cx="8928992" cy="6553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8FDEB1C-4EA5-5113-3CF8-5EC168A3C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52401"/>
            <a:ext cx="8136904" cy="6462312"/>
          </a:xfrm>
        </p:spPr>
      </p:pic>
    </p:spTree>
    <p:extLst>
      <p:ext uri="{BB962C8B-B14F-4D97-AF65-F5344CB8AC3E}">
        <p14:creationId xmlns:p14="http://schemas.microsoft.com/office/powerpoint/2010/main" val="4268306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38FE74-29F3-FB3D-7596-2B183B804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altLang="th-TH" sz="440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12</a:t>
            </a:r>
            <a:r>
              <a:rPr lang="th-TH" altLang="th-TH" sz="440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ngsana New" panose="02020603050405020304" pitchFamily="18" charset="-34"/>
              </a:rPr>
              <a:t> เผ่าอิสราเอล </a:t>
            </a:r>
            <a:r>
              <a:rPr lang="th-TH" altLang="th-TH" sz="440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(</a:t>
            </a:r>
            <a:r>
              <a:rPr lang="th-TH" altLang="th-TH" sz="440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Twelve</a:t>
            </a:r>
            <a:r>
              <a:rPr lang="th-TH" altLang="th-TH" sz="440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th-TH" altLang="th-TH" sz="440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Tribes</a:t>
            </a:r>
            <a:r>
              <a:rPr lang="th-TH" altLang="th-TH" sz="440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of </a:t>
            </a:r>
            <a:r>
              <a:rPr lang="th-TH" altLang="th-TH" sz="440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Israel</a:t>
            </a:r>
            <a:endParaRPr lang="th-T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12D834-94DB-916A-E44E-AC0E2B9A7B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1520" y="1263824"/>
            <a:ext cx="8712968" cy="55912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h-TH" altLang="th-TH" sz="1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endParaRPr kumimoji="0" lang="th-TH" altLang="th-TH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2"/>
              </a:rPr>
              <a:t>รูเบน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Reuben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kumimoji="0" lang="th-TH" altLang="th-TH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บุตรคนโต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3"/>
              </a:rPr>
              <a:t>สิเมโอน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Simeon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kumimoji="0" lang="th-TH" altLang="th-TH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4"/>
              </a:rPr>
              <a:t>เลวี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Levi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kumimoji="0" lang="th-TH" altLang="th-TH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เผ่าปุโรหิต ไม่ได้รับแบ่งที่ดินมรดก แต่กระจายอยู่ตามเมืองต่างๆ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5"/>
              </a:rPr>
              <a:t>ยูดา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5"/>
              </a:rPr>
              <a:t>ห์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Judah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kumimoji="0" lang="th-TH" altLang="th-TH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เผ่าหลักทางตอนใต้ แหล่งกำเนิดกษัตริย์ดาวิด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6"/>
              </a:rPr>
              <a:t>ดาน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Dan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kumimoji="0" lang="th-TH" altLang="th-TH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7"/>
              </a:rPr>
              <a:t>นัฟ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7"/>
              </a:rPr>
              <a:t>ทาลี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Naphtali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kumimoji="0" lang="th-TH" altLang="th-TH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8"/>
              </a:rPr>
              <a:t>กาด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Gad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kumimoji="0" lang="th-TH" altLang="th-TH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9"/>
              </a:rPr>
              <a:t>อาเชอร์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Asher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kumimoji="0" lang="th-TH" altLang="th-TH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10"/>
              </a:rPr>
              <a:t>อิสสาคา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10"/>
              </a:rPr>
              <a:t>ร์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Issachar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kumimoji="0" lang="th-TH" altLang="th-TH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11"/>
              </a:rPr>
              <a:t>เซบ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11"/>
              </a:rPr>
              <a:t>ูลุน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Zebulun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kumimoji="0" lang="th-TH" altLang="th-TH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1"/>
              <a:tabLst/>
            </a:pP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12"/>
              </a:rPr>
              <a:t>โยเซฟ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Joseph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kumimoji="0" lang="th-TH" altLang="th-TH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ซึ่งแบ่งออกเป็น 2 เผ่าย่อยคือ เอฟราอิม และ มนัสเส</a:t>
            </a:r>
            <a:r>
              <a:rPr kumimoji="0" lang="th-TH" altLang="th-TH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ห์</a:t>
            </a:r>
            <a:endParaRPr kumimoji="0" lang="th-TH" altLang="th-TH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13"/>
              </a:rPr>
              <a:t>เบนจาม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  <a:hlinkClick r:id="rId13"/>
              </a:rPr>
              <a:t>ิน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kumimoji="0" lang="th-TH" altLang="th-TH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Benjamin</a:t>
            </a:r>
            <a:r>
              <a:rPr kumimoji="0" lang="th-TH" altLang="th-TH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kumimoji="0" lang="th-TH" altLang="th-TH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 บุตรคนเล็ก</a:t>
            </a:r>
            <a:endParaRPr kumimoji="0" lang="th-TH" altLang="th-TH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98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4BFCE9-84B6-3C1D-FC5A-47626EB9C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16632"/>
            <a:ext cx="4840537" cy="670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5066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89A003-B921-03E8-B501-65974AC7A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-27126"/>
            <a:ext cx="4492940" cy="684050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12CA05F-BE3A-D0C8-C6DA-94168DF6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39328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E831C6-0515-14EE-372D-7ACD87B1C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88640"/>
            <a:ext cx="4099909" cy="655272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อิสราเอล 12 เผ่า แผ่นดินพันธสัญญา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รูเบน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Reuben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สิเมโอน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Simeon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เลวี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Levi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ยูดา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ห์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Judah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ดาน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(Dan)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</a:pP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นัฟ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ทาลี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Naphtali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กาด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Gad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อาเชอร์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Asher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อิสสาคา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ร์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Issachar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เซบ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ูลุน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Zebulun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1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โยเซฟ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Joseph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(มนัสเส</a:t>
            </a:r>
            <a:r>
              <a:rPr lang="th-TH" altLang="th-TH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ห์</a:t>
            </a:r>
            <a:r>
              <a:rPr lang="th-TH" altLang="th-TH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+เอฟราอิม)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เบนจาม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ิน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Benjamin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</a:t>
            </a:r>
            <a:endParaRPr lang="th-TH" dirty="0">
              <a:solidFill>
                <a:schemeClr val="bg1"/>
              </a:solidFill>
            </a:endParaRP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054E2832-AA6B-EDB5-BEDB-3BB0B63A7BF7}"/>
              </a:ext>
            </a:extLst>
          </p:cNvPr>
          <p:cNvSpPr txBox="1">
            <a:spLocks/>
          </p:cNvSpPr>
          <p:nvPr/>
        </p:nvSpPr>
        <p:spPr>
          <a:xfrm>
            <a:off x="5004048" y="188640"/>
            <a:ext cx="3456384" cy="655272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05840" indent="-228600" algn="l" rtl="0" eaLnBrk="1" latinLnBrk="0" hangingPunct="1">
              <a:spcBef>
                <a:spcPts val="300"/>
              </a:spcBef>
              <a:buClr>
                <a:schemeClr val="accent2">
                  <a:shade val="50000"/>
                </a:schemeClr>
              </a:buClr>
              <a:buSzPct val="85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rtl="0" eaLnBrk="1" latinLnBrk="0" hangingPunct="1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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800" indent="-22860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อิสราเอล 12 เผ่า วิวรณ์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รูเบน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Reuben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สิเมโอน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Simeon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เลวี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Levi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ยูดา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ห์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Judah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มนัสเส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ห์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(Manasseh)</a:t>
            </a:r>
            <a:endParaRPr lang="th-TH" altLang="th-TH" sz="2000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</a:pP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นัฟ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ทาลี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Naphtali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กาด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Gad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อาเชอร์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Asher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อิสสาคา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ร์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Issachar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เซบ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ูลุน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Zebulun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endParaRPr lang="th-TH" altLang="th-TH" dirty="0">
              <a:solidFill>
                <a:schemeClr val="bg1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1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โยเซฟ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Joseph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</a:pP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เบนจาม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ิน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(</a:t>
            </a:r>
            <a:r>
              <a:rPr lang="th-TH" altLang="th-TH" b="1" dirty="0" err="1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Benjamin</a:t>
            </a:r>
            <a:r>
              <a:rPr lang="th-TH" altLang="th-TH" b="1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):</a:t>
            </a:r>
            <a:r>
              <a:rPr lang="th-TH" altLang="th-TH" dirty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</a:t>
            </a:r>
            <a:endParaRPr lang="th-T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432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426D39-3771-F4B6-46C7-0FFF8CF48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66557"/>
            <a:ext cx="8928992" cy="6640939"/>
          </a:xfrm>
        </p:spPr>
      </p:pic>
    </p:spTree>
    <p:extLst>
      <p:ext uri="{BB962C8B-B14F-4D97-AF65-F5344CB8AC3E}">
        <p14:creationId xmlns:p14="http://schemas.microsoft.com/office/powerpoint/2010/main" val="866315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DD2F3D-CC97-BBF3-22B4-649A3C448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55272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th-TH" b="1" dirty="0"/>
              <a:t>1.ราเมเสส</a:t>
            </a:r>
            <a:r>
              <a:rPr lang="th-TH" dirty="0"/>
              <a:t> อิสราเอลถูกผลักออกไปจากอียิปต์ (</a:t>
            </a:r>
            <a:r>
              <a:rPr lang="th-TH" dirty="0" err="1"/>
              <a:t>อพย</a:t>
            </a:r>
            <a:r>
              <a:rPr lang="th-TH" dirty="0"/>
              <a:t>. ๑๒; กดว. ๓๓:๕).</a:t>
            </a:r>
          </a:p>
          <a:p>
            <a:pPr marL="0" indent="0" fontAlgn="base">
              <a:buNone/>
            </a:pPr>
            <a:r>
              <a:rPr lang="th-TH" b="1" dirty="0"/>
              <a:t>2.</a:t>
            </a:r>
            <a:r>
              <a:rPr lang="th-TH" b="1" dirty="0" err="1"/>
              <a:t>สุคคท</a:t>
            </a:r>
            <a:r>
              <a:rPr lang="th-TH" dirty="0"/>
              <a:t> หลังจากชาว</a:t>
            </a:r>
            <a:r>
              <a:rPr lang="th-TH" dirty="0" err="1"/>
              <a:t>ฮีบ</a:t>
            </a:r>
            <a:r>
              <a:rPr lang="th-TH" dirty="0"/>
              <a:t>รูออกจากสถานที่ตั้งค่ายแห่งแรก, พระเจ้าทรงพำนักอยู่กับพวกเขาในเมฆตอนกลางวันและในเสาเพลิงตอนกลางคืน (</a:t>
            </a:r>
            <a:r>
              <a:rPr lang="th-TH" dirty="0" err="1"/>
              <a:t>อพย</a:t>
            </a:r>
            <a:r>
              <a:rPr lang="th-TH" dirty="0"/>
              <a:t>. ๑๓:๒๐–๒๒).</a:t>
            </a:r>
          </a:p>
          <a:p>
            <a:pPr marL="0" indent="0" fontAlgn="base">
              <a:buNone/>
            </a:pPr>
            <a:r>
              <a:rPr lang="th-TH" b="1" dirty="0"/>
              <a:t>3.ปีหะ</a:t>
            </a:r>
            <a:r>
              <a:rPr lang="th-TH" b="1" dirty="0" err="1"/>
              <a:t>หิโ</a:t>
            </a:r>
            <a:r>
              <a:rPr lang="th-TH" b="1" dirty="0"/>
              <a:t>รท</a:t>
            </a:r>
            <a:r>
              <a:rPr lang="th-TH" dirty="0"/>
              <a:t> อิสราเอลผ่านทางทะเลแดง (</a:t>
            </a:r>
            <a:r>
              <a:rPr lang="th-TH" dirty="0" err="1"/>
              <a:t>อพย</a:t>
            </a:r>
            <a:r>
              <a:rPr lang="th-TH" dirty="0"/>
              <a:t>. ๑๔; กดว. ๓๓:๘).</a:t>
            </a:r>
          </a:p>
          <a:p>
            <a:pPr marL="0" indent="0" fontAlgn="base">
              <a:buNone/>
            </a:pPr>
            <a:r>
              <a:rPr lang="th-TH" b="1" dirty="0"/>
              <a:t>4.มารา</a:t>
            </a:r>
            <a:r>
              <a:rPr lang="th-TH" b="1" dirty="0" err="1"/>
              <a:t>ห์</a:t>
            </a:r>
            <a:r>
              <a:rPr lang="th-TH" dirty="0"/>
              <a:t> พระเจ้าทรงบำบัดผืนน้ำแห่งมารา</a:t>
            </a:r>
            <a:r>
              <a:rPr lang="th-TH" dirty="0" err="1"/>
              <a:t>ห์</a:t>
            </a:r>
            <a:r>
              <a:rPr lang="th-TH" dirty="0"/>
              <a:t>ให้ใสสะอาด (</a:t>
            </a:r>
            <a:r>
              <a:rPr lang="th-TH" dirty="0" err="1"/>
              <a:t>อพย</a:t>
            </a:r>
            <a:r>
              <a:rPr lang="th-TH" dirty="0"/>
              <a:t>. ๑๕:๒๓–๒๖).</a:t>
            </a:r>
          </a:p>
          <a:p>
            <a:pPr marL="0" indent="0" fontAlgn="base">
              <a:buNone/>
            </a:pPr>
            <a:r>
              <a:rPr lang="th-TH" b="1" dirty="0"/>
              <a:t>5.เอ</a:t>
            </a:r>
            <a:r>
              <a:rPr lang="th-TH" b="1" dirty="0" err="1"/>
              <a:t>ลิม</a:t>
            </a:r>
            <a:r>
              <a:rPr lang="th-TH" dirty="0"/>
              <a:t> อิสราเอลตั้งค่ายบริเวณน้ำพุ ๑๒ แห่ง (</a:t>
            </a:r>
            <a:r>
              <a:rPr lang="th-TH" dirty="0" err="1"/>
              <a:t>อพย</a:t>
            </a:r>
            <a:r>
              <a:rPr lang="th-TH" dirty="0"/>
              <a:t>. ๑๕:๒๗).</a:t>
            </a:r>
          </a:p>
          <a:p>
            <a:pPr marL="0" indent="0" fontAlgn="base">
              <a:buNone/>
            </a:pPr>
            <a:r>
              <a:rPr lang="th-TH" b="1" dirty="0"/>
              <a:t>6.แดนทุรกันดารสีน</a:t>
            </a:r>
            <a:r>
              <a:rPr lang="th-TH" dirty="0"/>
              <a:t> พระเจ้าทรงส่งมานากับนกคุ่มมาเป็นอาหารแก่อิสราเอล (</a:t>
            </a:r>
            <a:r>
              <a:rPr lang="th-TH" dirty="0" err="1"/>
              <a:t>อพย</a:t>
            </a:r>
            <a:r>
              <a:rPr lang="th-TH" dirty="0"/>
              <a:t>. ๑๖).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720640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3CC1F-9FF6-62F8-B665-CE2D6575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C99E19-86AD-D561-7D16-6377AAC15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55272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th-TH" b="1" dirty="0"/>
              <a:t>7.</a:t>
            </a:r>
            <a:r>
              <a:rPr lang="th-TH" b="1" dirty="0" err="1"/>
              <a:t>เรฟีดิม</a:t>
            </a:r>
            <a:r>
              <a:rPr lang="th-TH" dirty="0"/>
              <a:t> อิสราเอลทำสงครามกับอามาเลข (</a:t>
            </a:r>
            <a:r>
              <a:rPr lang="th-TH" dirty="0" err="1"/>
              <a:t>อพย</a:t>
            </a:r>
            <a:r>
              <a:rPr lang="th-TH" dirty="0"/>
              <a:t>. ๑๗:๘–๑๖).</a:t>
            </a:r>
          </a:p>
          <a:p>
            <a:pPr marL="0" indent="0" fontAlgn="base">
              <a:buNone/>
            </a:pPr>
            <a:r>
              <a:rPr lang="th-TH" b="1" dirty="0"/>
              <a:t>8. ภูเขาซีนาย (ภูเขาโฮเรบหรือเจเบล มูซา)</a:t>
            </a:r>
            <a:r>
              <a:rPr lang="th-TH" dirty="0"/>
              <a:t> พระเจ้าทรงเปิดเผยพระบัญญัติสิบประการ (</a:t>
            </a:r>
            <a:r>
              <a:rPr lang="th-TH" dirty="0" err="1"/>
              <a:t>อพย</a:t>
            </a:r>
            <a:r>
              <a:rPr lang="th-TH" dirty="0"/>
              <a:t>. ๑๙–๒๐).</a:t>
            </a:r>
          </a:p>
          <a:p>
            <a:pPr marL="0" indent="0" fontAlgn="base">
              <a:buNone/>
            </a:pPr>
            <a:r>
              <a:rPr lang="th-TH" b="1" dirty="0"/>
              <a:t>9.แดนทุรกันดารซีนาย</a:t>
            </a:r>
            <a:r>
              <a:rPr lang="th-TH" dirty="0"/>
              <a:t> อิสราเอลสร้างพลับพลา (</a:t>
            </a:r>
            <a:r>
              <a:rPr lang="th-TH" dirty="0" err="1"/>
              <a:t>อพย</a:t>
            </a:r>
            <a:r>
              <a:rPr lang="th-TH" dirty="0"/>
              <a:t>. ๒๕–๓๐).</a:t>
            </a:r>
          </a:p>
          <a:p>
            <a:pPr marL="0" indent="0" fontAlgn="base">
              <a:buNone/>
            </a:pPr>
            <a:r>
              <a:rPr lang="th-TH" b="1" dirty="0"/>
              <a:t>10.ค่ายในแดนทุรกันดาร</a:t>
            </a:r>
            <a:r>
              <a:rPr lang="th-TH" dirty="0"/>
              <a:t> เอ</a:t>
            </a:r>
            <a:r>
              <a:rPr lang="th-TH" dirty="0" err="1"/>
              <a:t>็ลเดอร์</a:t>
            </a:r>
            <a:r>
              <a:rPr lang="th-TH" dirty="0"/>
              <a:t>เจ็ดสิบคนได้รับเรียกให้ช่วยโมเสสปกครองผู้คน (กดว. ๑๑:๑๖–๑๗).</a:t>
            </a:r>
          </a:p>
          <a:p>
            <a:pPr marL="0" indent="0" fontAlgn="base">
              <a:buNone/>
            </a:pPr>
            <a:r>
              <a:rPr lang="th-TH" b="1" dirty="0"/>
              <a:t>11.เอซีโอนเกเบอร์</a:t>
            </a:r>
            <a:r>
              <a:rPr lang="th-TH" dirty="0"/>
              <a:t> อิสราเอลผ่านแผ่นดินแห่งเอซาวและอัมโมนโดยสันติ (</a:t>
            </a:r>
            <a:r>
              <a:rPr lang="th-TH" dirty="0" err="1"/>
              <a:t>ฉธ</a:t>
            </a:r>
            <a:r>
              <a:rPr lang="th-TH" dirty="0"/>
              <a:t>บ. ๒).</a:t>
            </a:r>
          </a:p>
          <a:p>
            <a:pPr marL="0" indent="0" fontAlgn="base">
              <a:buNone/>
            </a:pPr>
            <a:r>
              <a:rPr lang="th-TH" b="1" dirty="0"/>
              <a:t>12.คาเดช-บาร์</a:t>
            </a:r>
            <a:r>
              <a:rPr lang="th-TH" b="1" dirty="0" err="1"/>
              <a:t>เนีย</a:t>
            </a:r>
            <a:r>
              <a:rPr lang="th-TH" dirty="0"/>
              <a:t> โมเสสส่งหน่วยสอดแนมเข้าไปในแผ่นดินที่สัญญาไว้; อิสราเอลกบฏและไม่สามารถเข้าไปในแผ่นดินได้; คาเดชเป็นค่ายใหญ่ของอิสราเอลเป็นเวลาหลายปี (กดว. ๑๓:๑–๓, ๑๗–๓๓; ๑๔; ๓๒:๘; </a:t>
            </a:r>
            <a:r>
              <a:rPr lang="th-TH" dirty="0" err="1"/>
              <a:t>ฉธ</a:t>
            </a:r>
            <a:r>
              <a:rPr lang="th-TH" dirty="0"/>
              <a:t>บ. ๒:๑๔).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040477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C3C7-B597-00B9-41E3-6075C953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C2EBB4-6ABB-29CA-0ADD-6D965A07E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55272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th-TH" b="1" dirty="0"/>
              <a:t>13.แดนทุรกันดารตะวันออก</a:t>
            </a:r>
            <a:r>
              <a:rPr lang="th-TH" dirty="0"/>
              <a:t> อิสราเอลหลีกเลี่ยงการพิพาทกับเอโดมและโมอับ (กดว. ๒๐:๑๔–๒๑; ๒๒–๒๔).</a:t>
            </a:r>
          </a:p>
          <a:p>
            <a:pPr marL="0" indent="0" fontAlgn="base">
              <a:buNone/>
            </a:pPr>
            <a:r>
              <a:rPr lang="th-TH" b="1" dirty="0"/>
              <a:t>14.แม่น้ำอารโนน</a:t>
            </a:r>
            <a:r>
              <a:rPr lang="th-TH" dirty="0"/>
              <a:t> อิสราเอลทำลายชาวอาโมไร</a:t>
            </a:r>
            <a:r>
              <a:rPr lang="th-TH" dirty="0" err="1"/>
              <a:t>ต์</a:t>
            </a:r>
            <a:r>
              <a:rPr lang="th-TH" dirty="0"/>
              <a:t>ที่สู้รบกับพวกเขา (</a:t>
            </a:r>
            <a:r>
              <a:rPr lang="th-TH" dirty="0" err="1"/>
              <a:t>ฉธ</a:t>
            </a:r>
            <a:r>
              <a:rPr lang="th-TH" dirty="0"/>
              <a:t>บ. ๒:๒๔–๓๗).</a:t>
            </a:r>
          </a:p>
          <a:p>
            <a:pPr marL="0" indent="0" fontAlgn="base">
              <a:buNone/>
            </a:pPr>
            <a:r>
              <a:rPr lang="th-TH" b="1" dirty="0"/>
              <a:t>15.ภูเขาเนโบ</a:t>
            </a:r>
            <a:r>
              <a:rPr lang="th-TH" dirty="0"/>
              <a:t> โมเสสมองดูแผ่นดินที่สัญญาไว้ (</a:t>
            </a:r>
            <a:r>
              <a:rPr lang="th-TH" dirty="0" err="1"/>
              <a:t>ฉธ</a:t>
            </a:r>
            <a:r>
              <a:rPr lang="th-TH" dirty="0"/>
              <a:t>บ. ๓๔:๑–๔). โมเสสกล่าวโอวาทสามเรื่องสุดท้าย (</a:t>
            </a:r>
            <a:r>
              <a:rPr lang="th-TH" dirty="0" err="1"/>
              <a:t>ฉธ</a:t>
            </a:r>
            <a:r>
              <a:rPr lang="th-TH" dirty="0"/>
              <a:t>บ. ๑–๓๒).</a:t>
            </a:r>
          </a:p>
          <a:p>
            <a:pPr marL="0" indent="0" fontAlgn="base">
              <a:buNone/>
            </a:pPr>
            <a:r>
              <a:rPr lang="th-TH" b="1" dirty="0"/>
              <a:t>16.ที่ราบโมอับ</a:t>
            </a:r>
            <a:r>
              <a:rPr lang="th-TH" dirty="0"/>
              <a:t> พระเจ้ารับสั่งให้อิสราเอลแบ่งแผ่นดินและยึดครองแผ่นดินจากผู้อยู่อาศัย (กดว. ๓๓:๕๐–๕๖).</a:t>
            </a:r>
          </a:p>
          <a:p>
            <a:pPr marL="0" indent="0" fontAlgn="base">
              <a:buNone/>
            </a:pPr>
            <a:r>
              <a:rPr lang="th-TH" b="1" dirty="0"/>
              <a:t>17.แม่น้ำจอร์แดน</a:t>
            </a:r>
            <a:r>
              <a:rPr lang="th-TH" dirty="0"/>
              <a:t> อิสราเอลเดินข้ามแม่น้ำจอร์แดนบนแผ่นดินแห้ง. ใกล้</a:t>
            </a:r>
            <a:r>
              <a:rPr lang="th-TH" dirty="0" err="1"/>
              <a:t>กิล</a:t>
            </a:r>
            <a:r>
              <a:rPr lang="th-TH" dirty="0"/>
              <a:t>กาล, ชาวอิสราเอลนำศิลาจากก้นแม่น้ำจอร์แดนมาวางไว้เป็นอนุสรณ์ถึงการแยกผืนน้ำจอร์แดน (</a:t>
            </a:r>
            <a:r>
              <a:rPr lang="th-TH" dirty="0" err="1"/>
              <a:t>ยชว</a:t>
            </a:r>
            <a:r>
              <a:rPr lang="th-TH" dirty="0"/>
              <a:t>. ๓:๑–๕:๑).</a:t>
            </a:r>
          </a:p>
          <a:p>
            <a:pPr marL="0" indent="0" fontAlgn="base">
              <a:buNone/>
            </a:pPr>
            <a:r>
              <a:rPr lang="th-TH" b="1" dirty="0"/>
              <a:t>18.</a:t>
            </a:r>
            <a:r>
              <a:rPr lang="th-TH" b="1" dirty="0" err="1"/>
              <a:t>เย</a:t>
            </a:r>
            <a:r>
              <a:rPr lang="th-TH" b="1" dirty="0"/>
              <a:t>รีโค</a:t>
            </a:r>
            <a:r>
              <a:rPr lang="th-TH" dirty="0"/>
              <a:t> ลูกหลานของอิสราเอลยึดและทำลายเมือง (</a:t>
            </a:r>
            <a:r>
              <a:rPr lang="th-TH" dirty="0" err="1"/>
              <a:t>ยชว</a:t>
            </a:r>
            <a:r>
              <a:rPr lang="th-TH" dirty="0"/>
              <a:t>. ๖).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46944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F197A-ED2A-1553-DEED-CAAD14C0D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22CE61-9456-847D-0C74-9D2234C33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 dirty="0"/>
              <a:t>การปกครองโดยพระเจ้า (โมเสส โยชูวา ผู้วินิจฉัย)</a:t>
            </a:r>
          </a:p>
          <a:p>
            <a:endParaRPr lang="th-TH" sz="3600" dirty="0"/>
          </a:p>
          <a:p>
            <a:pPr marL="0" indent="0">
              <a:buNone/>
            </a:pPr>
            <a:r>
              <a:rPr lang="th-TH" sz="3600" dirty="0"/>
              <a:t>1ซามูเอล 8 </a:t>
            </a:r>
            <a:r>
              <a:rPr lang="en-US" sz="3600" dirty="0"/>
              <a:t>: 1-22</a:t>
            </a:r>
          </a:p>
          <a:p>
            <a:pPr marL="0" indent="0">
              <a:buNone/>
            </a:pPr>
            <a:endParaRPr lang="th-TH" sz="3600" dirty="0"/>
          </a:p>
          <a:p>
            <a:r>
              <a:rPr lang="th-TH" sz="3600" dirty="0"/>
              <a:t>การปกครองในระบอบกษัตริย์ </a:t>
            </a:r>
          </a:p>
          <a:p>
            <a:r>
              <a:rPr lang="th-TH" sz="3600" dirty="0"/>
              <a:t>การกอบกู้ใหม่ กลับสู่แผ่นดินหลังจากเป็นเชลย 70 ปี แต่ยังอยู่ภายใต้การปกครองของ เปอร์เซีย กรีก โรมัน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6102E0-FE24-B744-7539-0FA51D14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4400" dirty="0"/>
              <a:t>รูปแบบการปกครองในประวัติศาสตร์อิสราเอล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07448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6685B-E4B3-F947-9CE5-B6D20F1B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A09EBB-0A89-8F33-35BE-F63CE5530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1992"/>
            <a:ext cx="8229600" cy="2697088"/>
          </a:xfrm>
        </p:spPr>
        <p:txBody>
          <a:bodyPr>
            <a:normAutofit/>
          </a:bodyPr>
          <a:lstStyle/>
          <a:p>
            <a:r>
              <a:rPr lang="th-TH" sz="3600" dirty="0"/>
              <a:t>พระบัญญัติ  (5 เล่มแรก ของโมเสส)</a:t>
            </a:r>
          </a:p>
          <a:p>
            <a:r>
              <a:rPr lang="th-TH" sz="3600" dirty="0"/>
              <a:t>ประวัติศาสตร์</a:t>
            </a:r>
          </a:p>
          <a:p>
            <a:r>
              <a:rPr lang="th-TH" sz="3600" dirty="0"/>
              <a:t>ผู้เผยพระวจนะ</a:t>
            </a:r>
          </a:p>
          <a:p>
            <a:r>
              <a:rPr lang="th-TH" sz="3600" dirty="0"/>
              <a:t>กวี</a:t>
            </a:r>
          </a:p>
          <a:p>
            <a:pPr marL="0" indent="0">
              <a:buNone/>
            </a:pPr>
            <a:endParaRPr lang="th-TH" sz="3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E521CF-63F1-08C3-2371-AC50AAA61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4400" dirty="0"/>
              <a:t>การแบ่งหมวดหมู่ของพระคัมภีร์ (แบบเรา)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5842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5C611-3D2B-33C5-C1AA-D7BDCE5A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567D3B-60C8-7962-B1C0-9A84F7FB2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4400" dirty="0"/>
              <a:t>การแบ่งหมวดหมู่ของพระคัมภีร์ (แบบยิว)</a:t>
            </a:r>
            <a:endParaRPr lang="th-TH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3EC019EE-8492-5CCF-59CE-3D0CC49D6ECE}"/>
              </a:ext>
            </a:extLst>
          </p:cNvPr>
          <p:cNvSpPr txBox="1">
            <a:spLocks/>
          </p:cNvSpPr>
          <p:nvPr/>
        </p:nvSpPr>
        <p:spPr>
          <a:xfrm>
            <a:off x="457200" y="1812032"/>
            <a:ext cx="8229600" cy="269708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05840" indent="-228600" algn="l" rtl="0" eaLnBrk="1" latinLnBrk="0" hangingPunct="1">
              <a:spcBef>
                <a:spcPts val="300"/>
              </a:spcBef>
              <a:buClr>
                <a:schemeClr val="accent2">
                  <a:shade val="50000"/>
                </a:schemeClr>
              </a:buClr>
              <a:buSzPct val="85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rtl="0" eaLnBrk="1" latinLnBrk="0" hangingPunct="1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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800" indent="-22860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ts val="34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 pitchFamily="18" charset="2"/>
              <a:buChar char="?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3600" dirty="0"/>
              <a:t>พระบัญญัติ  (5 เล่มแรก ของโมเสส)</a:t>
            </a:r>
          </a:p>
          <a:p>
            <a:r>
              <a:rPr lang="th-TH" sz="3600" dirty="0"/>
              <a:t>ผู้เผยพระวจนะ</a:t>
            </a:r>
          </a:p>
          <a:p>
            <a:r>
              <a:rPr lang="th-TH" sz="3600" dirty="0"/>
              <a:t>กวี</a:t>
            </a:r>
          </a:p>
          <a:p>
            <a:pPr marL="0" indent="0">
              <a:buFont typeface="Wingdings 2"/>
              <a:buNone/>
            </a:pPr>
            <a:endParaRPr lang="th-TH" sz="3600" dirty="0"/>
          </a:p>
        </p:txBody>
      </p:sp>
    </p:spTree>
    <p:extLst>
      <p:ext uri="{BB962C8B-B14F-4D97-AF65-F5344CB8AC3E}">
        <p14:creationId xmlns:p14="http://schemas.microsoft.com/office/powerpoint/2010/main" val="377341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7719B2-843D-319D-E41C-191BCD9FF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883C39-31D4-70C9-0EDA-BDB27DAF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 dirty="0"/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3115458A-5A48-0BFB-4EDE-0C4820F26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639"/>
            <a:ext cx="4537371" cy="6856361"/>
          </a:xfrm>
        </p:spPr>
      </p:pic>
    </p:spTree>
    <p:extLst>
      <p:ext uri="{BB962C8B-B14F-4D97-AF65-F5344CB8AC3E}">
        <p14:creationId xmlns:p14="http://schemas.microsoft.com/office/powerpoint/2010/main" val="35307415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855F53-9825-5324-8BAD-67C04EAB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FFEC90-19B1-EFFE-56DA-DF0B7968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21931BA-22EE-C6F4-D583-10812A0AF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16632"/>
            <a:ext cx="5292162" cy="668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79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2329</TotalTime>
  <Words>2067</Words>
  <Application>Microsoft Office PowerPoint</Application>
  <PresentationFormat>On-screen Show (4:3)</PresentationFormat>
  <Paragraphs>165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Constantia</vt:lpstr>
      <vt:lpstr>Cordia New</vt:lpstr>
      <vt:lpstr>Google Sans</vt:lpstr>
      <vt:lpstr>Wingdings 2</vt:lpstr>
      <vt:lpstr>Paper</vt:lpstr>
      <vt:lpstr>PowerPoint Presentation</vt:lpstr>
      <vt:lpstr>ประวัติศาสตร์ในพระคัมภีร์เดิม</vt:lpstr>
      <vt:lpstr>ประวัติศาสตร์ในพระคัมภีร์เดิม</vt:lpstr>
      <vt:lpstr>ประวัติศาสตร์ในพระคัมภีร์เดิม</vt:lpstr>
      <vt:lpstr>ทำไมเราต้องศึกษาหนังสือประวัติศาสตร์ในพระคัมภีร์เดิม</vt:lpstr>
      <vt:lpstr>“อุปสรรค” ในการศึกษาประวัติศาสตร์ในพระคัมภีร์เดิม </vt:lpstr>
      <vt:lpstr>ทำไมเราต้องศึกษาหนังสือประวัติศาสตร์ในพระคัมภีร์เดิม</vt:lpstr>
      <vt:lpstr>เหตุการณ์เหล่านี้เกิดขึ้นกับพวกเขาเพื่อเป็นตัวอย่าง และได้เขียนไว้เพื่อเตือนสติเราผู้ซึ่งมาถึงวาระสุดท้ายของยุคนี้แล้ว 1โครินธ์ 10:11</vt:lpstr>
      <vt:lpstr>“อย่าคิดว่าเรามาล้มเลิกธรรมบัญญัติและคำของบรรดาผู้เผยพระวจนะ เราไม่ได้มาล้มเลิก แต่มาทำให้สมบูรณ์ทุกประการ เพราะเราบอกความจริงแก่ท่านทั้งหลายว่า จนกว่าฟ้าและดินจะล่วงไป แม้อักษรที่เล็กที่สุด หรือขีด ขีดหนึ่ง ก็จะไม่มีวันสูญไปจากธรรมบัญญัติ จนกว่าทุกสิ่งจะเกิดขึ้น เพราะฉะนั้น ใครทำให้ข้อเล็กน้อยเพียงข้อหนึ่งในพระบัญญัตินี้ มีความสำคัญน้อยลง และสอนคนอื่นให้ทำอย่างนั้นด้วย คนนั้นจะได้ชื่อว่าเป็นผู้เล็กน้อยที่สุดในแผ่นดินสวรรค์ แต่ใครที่ประพฤติและสอนตามธรรมบัญญัติ คนนั้นจะได้ชื่อว่าเป็นใหญ่ในแผ่นดินสวรรค์ เพราะเราบอกพวกท่านว่า ถ้าความชอบธรรมของท่านไม่มากกว่าความชอบธรรมของพวกธรรมาจารย์และพวกฟาริสี พวกท่านจะไม่มีวันได้เข้าสู่แผ่นดินสวรรค์ มัทธิว 5:17-19</vt:lpstr>
      <vt:lpstr>ประวัติศาสตร์ในพระคัมภีร์เดิม</vt:lpstr>
      <vt:lpstr>PowerPoint Presentation</vt:lpstr>
      <vt:lpstr>PowerPoint Presentation</vt:lpstr>
      <vt:lpstr>ลักษณะสำคัญของคนฮีบรู</vt:lpstr>
      <vt:lpstr>ลำดับเหตุการณ์ในพระคัมภีร์เดิม</vt:lpstr>
      <vt:lpstr>ชนชาติ</vt:lpstr>
      <vt:lpstr>ลำดับเหตุการณ์ในพระคัมภีร์เดิม</vt:lpstr>
      <vt:lpstr>ลำดับเหตุการณ์ในพระคัมภีร์เดิม</vt:lpstr>
      <vt:lpstr>PowerPoint Presentation</vt:lpstr>
      <vt:lpstr>PowerPoint Presentation</vt:lpstr>
      <vt:lpstr>อาณาจักร ในบริเวณเมโสโปเตเมีย</vt:lpstr>
      <vt:lpstr>PowerPoint Presentation</vt:lpstr>
      <vt:lpstr>หนังสือแนวประวัติศาสตร์ในพระคัมภีร์เดิม</vt:lpstr>
      <vt:lpstr>หนังสือ 12 เล่ม บอกเราถึงเรื่องต่อไปนี้</vt:lpstr>
      <vt:lpstr>ประวัติศาสตร์ในพระคัมภีร์เดิม</vt:lpstr>
      <vt:lpstr>PowerPoint Presentation</vt:lpstr>
      <vt:lpstr>พันธสัญญาของพระเจ้ากับอับราฮัม</vt:lpstr>
      <vt:lpstr>ลูกของ อับราฮาม</vt:lpstr>
      <vt:lpstr>PowerPoint Presentation</vt:lpstr>
      <vt:lpstr>12 เผ่าอิสราเอล (Twelve Tribes of Israel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รูปแบบการปกครองในประวัติศาสตร์อิสราเอล</vt:lpstr>
      <vt:lpstr>การแบ่งหมวดหมู่ของพระคัมภีร์ (แบบเรา)</vt:lpstr>
      <vt:lpstr>การแบ่งหมวดหมู่ของพระคัมภีร์ (แบบยิว)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Spiderman</dc:creator>
  <cp:lastModifiedBy>rattikorn</cp:lastModifiedBy>
  <cp:revision>86</cp:revision>
  <cp:lastPrinted>2026-04-18T05:09:21Z</cp:lastPrinted>
  <dcterms:created xsi:type="dcterms:W3CDTF">2014-03-22T03:33:57Z</dcterms:created>
  <dcterms:modified xsi:type="dcterms:W3CDTF">2026-04-24T04:19:54Z</dcterms:modified>
</cp:coreProperties>
</file>